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9"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5/12/2023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healthdirect.gov.au/bowel-cancer" TargetMode="External"/><Relationship Id="rId2" Type="http://schemas.openxmlformats.org/officeDocument/2006/relationships/hyperlink" Target="https://www.healthdirect.gov.au/skin-cancer-and-melanomas" TargetMode="External"/><Relationship Id="rId1" Type="http://schemas.openxmlformats.org/officeDocument/2006/relationships/slideLayout" Target="../slideLayouts/slideLayout2.xml"/><Relationship Id="rId6" Type="http://schemas.openxmlformats.org/officeDocument/2006/relationships/hyperlink" Target="https://www.healthdirect.gov.au/lung-cancer" TargetMode="External"/><Relationship Id="rId5" Type="http://schemas.openxmlformats.org/officeDocument/2006/relationships/hyperlink" Target="https://www.healthdirect.gov.au/kidney-cancer" TargetMode="External"/><Relationship Id="rId4" Type="http://schemas.openxmlformats.org/officeDocument/2006/relationships/hyperlink" Target="https://www.healthdirect.gov.au/breast-cance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786D1CD-0986-4EF1-8E5D-7D90030CF0C4}"/>
              </a:ext>
            </a:extLst>
          </p:cNvPr>
          <p:cNvSpPr>
            <a:spLocks noGrp="1"/>
          </p:cNvSpPr>
          <p:nvPr>
            <p:ph type="subTitle" idx="1"/>
          </p:nvPr>
        </p:nvSpPr>
        <p:spPr>
          <a:xfrm>
            <a:off x="376544" y="174960"/>
            <a:ext cx="11342660" cy="6411828"/>
          </a:xfrm>
        </p:spPr>
        <p:txBody>
          <a:bodyPr/>
          <a:lstStyle/>
          <a:p>
            <a:pPr lvl="0" algn="ctr" defTabSz="914400" eaLnBrk="0" fontAlgn="base" hangingPunct="0">
              <a:spcBef>
                <a:spcPct val="0"/>
              </a:spcBef>
              <a:spcAft>
                <a:spcPct val="0"/>
              </a:spcAft>
              <a:buClrTx/>
              <a:buSzTx/>
            </a:pPr>
            <a:r>
              <a:rPr lang="en-US" altLang="en-US" sz="2800" b="1" dirty="0">
                <a:solidFill>
                  <a:srgbClr val="2F5496"/>
                </a:solidFill>
                <a:latin typeface="Times New Roman" panose="02020603050405020304" pitchFamily="18" charset="0"/>
                <a:ea typeface="Calibri" panose="020F0502020204030204" pitchFamily="34" charset="0"/>
                <a:cs typeface="Times New Roman" panose="02020603050405020304" pitchFamily="18" charset="0"/>
              </a:rPr>
              <a:t>SDM COLLEGE OF ENGINEERING AND TECHNOLOGY,</a:t>
            </a:r>
            <a:r>
              <a:rPr lang="en-US" altLang="en-US" sz="2800" dirty="0">
                <a:solidFill>
                  <a:srgbClr val="2F5496"/>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sz="2800" b="1" dirty="0">
                <a:solidFill>
                  <a:srgbClr val="2F5496"/>
                </a:solidFill>
                <a:latin typeface="Times New Roman" panose="02020603050405020304" pitchFamily="18" charset="0"/>
                <a:ea typeface="Calibri" panose="020F0502020204030204" pitchFamily="34" charset="0"/>
                <a:cs typeface="Times New Roman" panose="02020603050405020304" pitchFamily="18" charset="0"/>
              </a:rPr>
              <a:t>Dharwad-580002</a:t>
            </a:r>
            <a:endParaRPr lang="en-US" altLang="en-US" sz="2800" dirty="0">
              <a:solidFill>
                <a:schemeClr val="tx1"/>
              </a:solidFill>
            </a:endParaRPr>
          </a:p>
          <a:p>
            <a:pPr algn="ctr" defTabSz="914400" eaLnBrk="0" fontAlgn="base" hangingPunct="0">
              <a:spcBef>
                <a:spcPct val="0"/>
              </a:spcBef>
              <a:spcAft>
                <a:spcPct val="0"/>
              </a:spcAft>
            </a:pPr>
            <a:r>
              <a:rPr lang="en-US" altLang="en-US" sz="2800" dirty="0">
                <a:solidFill>
                  <a:schemeClr val="tx1">
                    <a:lumMod val="85000"/>
                    <a:lumOff val="15000"/>
                  </a:schemeClr>
                </a:solidFill>
                <a:latin typeface="Times New Roman" panose="02020603050405020304" pitchFamily="18" charset="0"/>
                <a:ea typeface="Calibri" panose="020F0502020204030204" pitchFamily="34" charset="0"/>
                <a:cs typeface="Times New Roman" panose="02020603050405020304" pitchFamily="18" charset="0"/>
              </a:rPr>
              <a:t>Department of Electronics and Communication Engineering</a:t>
            </a:r>
            <a:endParaRPr lang="en-US" altLang="en-US" sz="2800" dirty="0">
              <a:solidFill>
                <a:schemeClr val="tx1">
                  <a:lumMod val="85000"/>
                  <a:lumOff val="15000"/>
                </a:schemeClr>
              </a:solidFill>
            </a:endParaRPr>
          </a:p>
          <a:p>
            <a:pPr lvl="0" indent="457200" algn="ctr" defTabSz="914400" eaLnBrk="0" fontAlgn="base" hangingPunct="0">
              <a:spcBef>
                <a:spcPct val="0"/>
              </a:spcBef>
              <a:spcAft>
                <a:spcPct val="0"/>
              </a:spcAft>
              <a:buClrTx/>
              <a:buSzTx/>
            </a:pPr>
            <a:endParaRPr lang="en-US" altLang="en-US" sz="2800" b="1" u="sng" dirty="0">
              <a:solidFill>
                <a:schemeClr val="accent3">
                  <a:lumMod val="50000"/>
                </a:schemeClr>
              </a:solidFill>
              <a:latin typeface="Calibri" panose="020F0502020204030204" pitchFamily="34" charset="0"/>
              <a:ea typeface="Calibri" panose="020F0502020204030204" pitchFamily="34" charset="0"/>
              <a:cs typeface="Times New Roman" panose="02020603050405020304" pitchFamily="18" charset="0"/>
            </a:endParaRPr>
          </a:p>
          <a:p>
            <a:pPr lvl="0" indent="457200" algn="ctr" defTabSz="914400" eaLnBrk="0" fontAlgn="base" hangingPunct="0">
              <a:spcBef>
                <a:spcPct val="0"/>
              </a:spcBef>
              <a:spcAft>
                <a:spcPct val="0"/>
              </a:spcAft>
              <a:buClrTx/>
              <a:buSzTx/>
            </a:pPr>
            <a:endParaRPr lang="en-US" altLang="en-US" sz="2800" b="1" u="sng" dirty="0">
              <a:solidFill>
                <a:schemeClr val="accent3">
                  <a:lumMod val="50000"/>
                </a:schemeClr>
              </a:solidFill>
              <a:latin typeface="Calibri" panose="020F0502020204030204" pitchFamily="34" charset="0"/>
              <a:ea typeface="Calibri" panose="020F0502020204030204" pitchFamily="34" charset="0"/>
              <a:cs typeface="Times New Roman" panose="02020603050405020304" pitchFamily="18" charset="0"/>
            </a:endParaRPr>
          </a:p>
          <a:p>
            <a:pPr lvl="0" indent="457200" algn="ctr" defTabSz="914400" eaLnBrk="0" fontAlgn="base" hangingPunct="0">
              <a:spcBef>
                <a:spcPct val="0"/>
              </a:spcBef>
              <a:spcAft>
                <a:spcPct val="0"/>
              </a:spcAft>
              <a:buClrTx/>
              <a:buSzTx/>
            </a:pPr>
            <a:r>
              <a:rPr lang="en-US" altLang="en-US" sz="2800" b="1" u="sng" dirty="0">
                <a:solidFill>
                  <a:schemeClr val="accent3">
                    <a:lumMod val="50000"/>
                  </a:schemeClr>
                </a:solidFill>
                <a:latin typeface="Calibri" panose="020F0502020204030204" pitchFamily="34" charset="0"/>
                <a:ea typeface="Calibri" panose="020F0502020204030204" pitchFamily="34" charset="0"/>
                <a:cs typeface="Times New Roman" panose="02020603050405020304" pitchFamily="18" charset="0"/>
              </a:rPr>
              <a:t>“BRAIN TUMOUR SEGMENTATION USING IMAGE PROCESSING”</a:t>
            </a:r>
            <a:endParaRPr lang="en-US" altLang="en-US" dirty="0">
              <a:solidFill>
                <a:schemeClr val="accent3">
                  <a:lumMod val="50000"/>
                </a:schemeClr>
              </a:solidFill>
            </a:endParaRPr>
          </a:p>
          <a:p>
            <a:pPr lvl="0" indent="457200" algn="ctr" defTabSz="914400" eaLnBrk="0" fontAlgn="base" hangingPunct="0">
              <a:spcBef>
                <a:spcPct val="0"/>
              </a:spcBef>
              <a:spcAft>
                <a:spcPct val="0"/>
              </a:spcAft>
              <a:buClrTx/>
              <a:buSzTx/>
            </a:pP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Presented by:</a:t>
            </a:r>
            <a:endParaRPr lang="en-US" altLang="en-US" dirty="0"/>
          </a:p>
          <a:p>
            <a:pPr lvl="0" indent="457200" algn="ctr" defTabSz="914400" eaLnBrk="0" fontAlgn="base" hangingPunct="0">
              <a:spcBef>
                <a:spcPct val="0"/>
              </a:spcBef>
              <a:spcAft>
                <a:spcPct val="0"/>
              </a:spcAft>
              <a:buClrTx/>
              <a:buSzTx/>
            </a:pP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Mr. Ajay M. Rathod 		 </a:t>
            </a:r>
            <a:r>
              <a:rPr lang="en-US" altLang="en-US" dirty="0">
                <a:latin typeface="Times New Roman" panose="02020603050405020304" pitchFamily="18" charset="0"/>
                <a:ea typeface="Calibri" panose="020F0502020204030204" pitchFamily="34" charset="0"/>
                <a:cs typeface="Times New Roman" panose="02020603050405020304" pitchFamily="18" charset="0"/>
              </a:rPr>
              <a:t>--</a:t>
            </a: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USN:2SD20EC005</a:t>
            </a:r>
            <a:endParaRPr lang="en-US" altLang="en-US" dirty="0"/>
          </a:p>
          <a:p>
            <a:pPr lvl="0" indent="457200" algn="ctr" defTabSz="914400" eaLnBrk="0" fontAlgn="base" hangingPunct="0">
              <a:spcBef>
                <a:spcPct val="0"/>
              </a:spcBef>
              <a:spcAft>
                <a:spcPct val="0"/>
              </a:spcAft>
              <a:buClrTx/>
              <a:buSzTx/>
            </a:pP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Ms. </a:t>
            </a:r>
            <a:r>
              <a:rPr lang="en-US" altLang="en-US"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Akshata</a:t>
            </a: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Katrale</a:t>
            </a: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USN:2SD20EC010</a:t>
            </a:r>
          </a:p>
          <a:p>
            <a:pPr lvl="0" indent="457200" algn="ctr" defTabSz="914400" eaLnBrk="0" fontAlgn="base" hangingPunct="0">
              <a:spcBef>
                <a:spcPct val="0"/>
              </a:spcBef>
              <a:spcAft>
                <a:spcPct val="0"/>
              </a:spcAft>
              <a:buClrTx/>
              <a:buSzTx/>
            </a:pP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Ms. </a:t>
            </a:r>
            <a:r>
              <a:rPr lang="en-US" altLang="en-US"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Inchara</a:t>
            </a: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Nayaka	                  --            USN:2SD20EC043</a:t>
            </a:r>
          </a:p>
          <a:p>
            <a:pPr lvl="0" indent="457200" algn="ctr" defTabSz="914400" eaLnBrk="0" fontAlgn="base" hangingPunct="0">
              <a:spcBef>
                <a:spcPct val="0"/>
              </a:spcBef>
              <a:spcAft>
                <a:spcPct val="0"/>
              </a:spcAft>
              <a:buClrTx/>
              <a:buSzTx/>
            </a:pP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Mr. Mohammed Yaseen                    --            USN:2SD20EC057</a:t>
            </a:r>
            <a:endParaRPr lang="en-US" altLang="en-US" dirty="0">
              <a:solidFill>
                <a:schemeClr val="tx1"/>
              </a:solidFill>
            </a:endParaRPr>
          </a:p>
          <a:p>
            <a:pPr lvl="0" indent="457200" algn="ctr" defTabSz="914400" eaLnBrk="0" fontAlgn="base" hangingPunct="0">
              <a:spcBef>
                <a:spcPct val="0"/>
              </a:spcBef>
              <a:spcAft>
                <a:spcPct val="0"/>
              </a:spcAft>
              <a:buClrTx/>
              <a:buSzTx/>
            </a:pP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endParaRPr lang="en-US" altLang="en-US" dirty="0">
              <a:solidFill>
                <a:schemeClr val="tx1"/>
              </a:solidFill>
            </a:endParaRPr>
          </a:p>
          <a:p>
            <a:pPr lvl="0" indent="457200" algn="ctr" defTabSz="914400" eaLnBrk="0" fontAlgn="base" hangingPunct="0">
              <a:spcBef>
                <a:spcPct val="0"/>
              </a:spcBef>
              <a:spcAft>
                <a:spcPct val="0"/>
              </a:spcAft>
              <a:buClrTx/>
              <a:buSzTx/>
            </a:pP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Students of 5</a:t>
            </a:r>
            <a:r>
              <a:rPr lang="en-US" altLang="en-US" baseline="30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a:t>
            </a: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Semester ECE Department</a:t>
            </a:r>
            <a:endParaRPr lang="en-US" altLang="en-US" dirty="0">
              <a:solidFill>
                <a:schemeClr val="tx1"/>
              </a:solidFill>
            </a:endParaRPr>
          </a:p>
          <a:p>
            <a:pPr lvl="0" indent="457200" algn="ctr" defTabSz="914400" eaLnBrk="0" fontAlgn="base" hangingPunct="0">
              <a:spcBef>
                <a:spcPct val="0"/>
              </a:spcBef>
              <a:spcAft>
                <a:spcPct val="0"/>
              </a:spcAft>
              <a:buClrTx/>
              <a:buSzTx/>
            </a:pP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Division : B</a:t>
            </a:r>
            <a:endParaRPr lang="en-US" altLang="en-US" dirty="0">
              <a:solidFill>
                <a:schemeClr val="tx1"/>
              </a:solidFill>
            </a:endParaRPr>
          </a:p>
          <a:p>
            <a:pPr lvl="0" indent="457200" algn="ctr" defTabSz="914400" eaLnBrk="0" fontAlgn="base" hangingPunct="0">
              <a:spcBef>
                <a:spcPct val="0"/>
              </a:spcBef>
              <a:spcAft>
                <a:spcPct val="0"/>
              </a:spcAft>
              <a:buClrTx/>
              <a:buSzTx/>
            </a:pPr>
            <a:r>
              <a:rPr lang="en-US" alt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Under the guidance of</a:t>
            </a:r>
            <a:endParaRPr lang="en-US" altLang="en-US" dirty="0"/>
          </a:p>
          <a:p>
            <a:pPr lvl="0" indent="457200" algn="ctr" defTabSz="914400" eaLnBrk="0" fontAlgn="base" hangingPunct="0">
              <a:spcBef>
                <a:spcPct val="0"/>
              </a:spcBef>
              <a:spcAft>
                <a:spcPct val="0"/>
              </a:spcAft>
              <a:buClrTx/>
              <a:buSzTx/>
            </a:pPr>
            <a:r>
              <a:rPr lang="en-US" altLang="en-US" b="1" u="sng" dirty="0">
                <a:solidFill>
                  <a:schemeClr val="accent3">
                    <a:lumMod val="75000"/>
                  </a:schemeClr>
                </a:solidFill>
                <a:latin typeface="Times New Roman" panose="02020603050405020304" pitchFamily="18" charset="0"/>
                <a:ea typeface="Calibri" panose="020F0502020204030204" pitchFamily="34" charset="0"/>
                <a:cs typeface="Times New Roman" panose="02020603050405020304" pitchFamily="18" charset="0"/>
              </a:rPr>
              <a:t>Prof. Ravishankar S </a:t>
            </a:r>
            <a:r>
              <a:rPr lang="en-US" altLang="en-US" b="1" u="sng" dirty="0" err="1">
                <a:solidFill>
                  <a:schemeClr val="accent3">
                    <a:lumMod val="75000"/>
                  </a:schemeClr>
                </a:solidFill>
                <a:latin typeface="Times New Roman" panose="02020603050405020304" pitchFamily="18" charset="0"/>
                <a:ea typeface="Calibri" panose="020F0502020204030204" pitchFamily="34" charset="0"/>
                <a:cs typeface="Times New Roman" panose="02020603050405020304" pitchFamily="18" charset="0"/>
              </a:rPr>
              <a:t>S</a:t>
            </a:r>
            <a:endParaRPr lang="en-US" altLang="en-US" dirty="0">
              <a:solidFill>
                <a:schemeClr val="accent3">
                  <a:lumMod val="75000"/>
                </a:schemeClr>
              </a:solidFill>
            </a:endParaRPr>
          </a:p>
          <a:p>
            <a:pPr lvl="0" indent="457200" algn="ctr" defTabSz="914400" eaLnBrk="0" fontAlgn="base" hangingPunct="0">
              <a:spcBef>
                <a:spcPct val="0"/>
              </a:spcBef>
              <a:spcAft>
                <a:spcPct val="0"/>
              </a:spcAft>
              <a:buClrTx/>
              <a:buSzTx/>
            </a:pPr>
            <a:r>
              <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Academic Year 2022- 23</a:t>
            </a:r>
            <a:endParaRPr lang="en-US" altLang="en-US" sz="1600" dirty="0">
              <a:solidFill>
                <a:schemeClr val="tx1"/>
              </a:solidFill>
              <a:latin typeface="Arial" panose="020B0604020202020204" pitchFamily="34" charset="0"/>
            </a:endParaRPr>
          </a:p>
          <a:p>
            <a:endParaRPr lang="en-IN" dirty="0"/>
          </a:p>
        </p:txBody>
      </p:sp>
      <p:pic>
        <p:nvPicPr>
          <p:cNvPr id="6" name="Picture 5">
            <a:extLst>
              <a:ext uri="{FF2B5EF4-FFF2-40B4-BE49-F238E27FC236}">
                <a16:creationId xmlns:a16="http://schemas.microsoft.com/office/drawing/2014/main" id="{4FD43039-E0E8-4CA4-BF5E-1DDFD5E796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5996" y="613279"/>
            <a:ext cx="1401802" cy="1718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9131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3E8FA-5E69-461C-B2DF-DCB6634EB303}"/>
              </a:ext>
            </a:extLst>
          </p:cNvPr>
          <p:cNvSpPr>
            <a:spLocks noGrp="1"/>
          </p:cNvSpPr>
          <p:nvPr>
            <p:ph type="title"/>
          </p:nvPr>
        </p:nvSpPr>
        <p:spPr/>
        <p:txBody>
          <a:bodyPr/>
          <a:lstStyle/>
          <a:p>
            <a:r>
              <a:rPr lang="en-US" altLang="en-US" sz="2000" b="1" dirty="0">
                <a:solidFill>
                  <a:srgbClr val="71309E"/>
                </a:solidFill>
                <a:latin typeface="Times New Roman" panose="02020603050405020304" pitchFamily="18" charset="0"/>
              </a:rPr>
              <a:t>TABLE OF CONTENT</a:t>
            </a:r>
            <a:br>
              <a:rPr lang="en-US" altLang="en-US" b="1" dirty="0">
                <a:solidFill>
                  <a:srgbClr val="71309E"/>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17DD863-9D1D-4620-993B-254100201CE9}"/>
              </a:ext>
            </a:extLst>
          </p:cNvPr>
          <p:cNvSpPr>
            <a:spLocks noGrp="1"/>
          </p:cNvSpPr>
          <p:nvPr>
            <p:ph idx="1"/>
          </p:nvPr>
        </p:nvSpPr>
        <p:spPr>
          <a:xfrm>
            <a:off x="488798" y="1270000"/>
            <a:ext cx="8596668" cy="3880773"/>
          </a:xfrm>
        </p:spPr>
        <p:txBody>
          <a:bodyPr>
            <a:normAutofit fontScale="25000" lnSpcReduction="20000"/>
          </a:bodyPr>
          <a:lstStyle/>
          <a:p>
            <a:pPr algn="just">
              <a:lnSpc>
                <a:spcPts val="3363"/>
              </a:lnSpc>
              <a:spcBef>
                <a:spcPts val="3150"/>
              </a:spcBef>
            </a:pPr>
            <a:r>
              <a:rPr lang="en-US" altLang="en-US" sz="8000" b="1" dirty="0">
                <a:latin typeface="Times New Roman" panose="02020603050405020304" pitchFamily="18" charset="0"/>
              </a:rPr>
              <a:t>l. Introduction</a:t>
            </a:r>
          </a:p>
          <a:p>
            <a:pPr algn="just">
              <a:lnSpc>
                <a:spcPts val="3363"/>
              </a:lnSpc>
            </a:pPr>
            <a:r>
              <a:rPr lang="en-US" altLang="en-US" sz="8000" b="1" dirty="0">
                <a:latin typeface="Times New Roman" panose="02020603050405020304" pitchFamily="18" charset="0"/>
              </a:rPr>
              <a:t>2. Aims and Objectives</a:t>
            </a:r>
          </a:p>
          <a:p>
            <a:pPr algn="just">
              <a:lnSpc>
                <a:spcPts val="3363"/>
              </a:lnSpc>
            </a:pPr>
            <a:r>
              <a:rPr lang="en-US" altLang="en-US" sz="8000" b="1" dirty="0">
                <a:latin typeface="Times New Roman" panose="02020603050405020304" pitchFamily="18" charset="0"/>
              </a:rPr>
              <a:t>3. Literature Survey</a:t>
            </a:r>
          </a:p>
          <a:p>
            <a:pPr>
              <a:lnSpc>
                <a:spcPct val="170000"/>
              </a:lnSpc>
            </a:pPr>
            <a:r>
              <a:rPr lang="en-US" altLang="en-US" sz="8000" b="1" dirty="0">
                <a:latin typeface="Times New Roman" panose="02020603050405020304" pitchFamily="18" charset="0"/>
              </a:rPr>
              <a:t>4. Methodology</a:t>
            </a:r>
          </a:p>
          <a:p>
            <a:pPr>
              <a:lnSpc>
                <a:spcPct val="170000"/>
              </a:lnSpc>
            </a:pPr>
            <a:r>
              <a:rPr lang="en-US" altLang="en-US" sz="8000" b="1" dirty="0">
                <a:latin typeface="Times New Roman" panose="02020603050405020304" pitchFamily="18" charset="0"/>
              </a:rPr>
              <a:t> 5.Software requirement</a:t>
            </a:r>
          </a:p>
          <a:p>
            <a:pPr algn="just">
              <a:lnSpc>
                <a:spcPts val="3363"/>
              </a:lnSpc>
            </a:pPr>
            <a:r>
              <a:rPr lang="en-US" altLang="en-US" sz="8000" b="1" dirty="0">
                <a:latin typeface="Times New Roman" panose="02020603050405020304" pitchFamily="18" charset="0"/>
              </a:rPr>
              <a:t>6. Applications , Advantages and disadvantages</a:t>
            </a:r>
          </a:p>
          <a:p>
            <a:pPr algn="just">
              <a:lnSpc>
                <a:spcPts val="3363"/>
              </a:lnSpc>
            </a:pPr>
            <a:r>
              <a:rPr lang="en-US" altLang="en-US" sz="8000" b="1" dirty="0">
                <a:latin typeface="Times New Roman" panose="02020603050405020304" pitchFamily="18" charset="0"/>
              </a:rPr>
              <a:t>7. Reference</a:t>
            </a:r>
          </a:p>
          <a:p>
            <a:pPr algn="just">
              <a:lnSpc>
                <a:spcPts val="3363"/>
              </a:lnSpc>
            </a:pPr>
            <a:r>
              <a:rPr lang="en-US" altLang="en-US" sz="8000" b="1" dirty="0">
                <a:latin typeface="Times New Roman" panose="02020603050405020304" pitchFamily="18" charset="0"/>
              </a:rPr>
              <a:t>8. Conclusion</a:t>
            </a:r>
          </a:p>
          <a:p>
            <a:pPr marL="0" indent="0" algn="just">
              <a:lnSpc>
                <a:spcPts val="3363"/>
              </a:lnSpc>
              <a:buNone/>
            </a:pPr>
            <a:endParaRPr lang="en-US" altLang="en-US" sz="8000" b="1" dirty="0">
              <a:latin typeface="Times New Roman" panose="02020603050405020304" pitchFamily="18" charset="0"/>
            </a:endParaRPr>
          </a:p>
          <a:p>
            <a:endParaRPr lang="en-IN" dirty="0"/>
          </a:p>
        </p:txBody>
      </p:sp>
    </p:spTree>
    <p:extLst>
      <p:ext uri="{BB962C8B-B14F-4D97-AF65-F5344CB8AC3E}">
        <p14:creationId xmlns:p14="http://schemas.microsoft.com/office/powerpoint/2010/main" val="1044991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F7F5-1411-48AF-BECB-D8072E735E1E}"/>
              </a:ext>
            </a:extLst>
          </p:cNvPr>
          <p:cNvSpPr>
            <a:spLocks noGrp="1"/>
          </p:cNvSpPr>
          <p:nvPr>
            <p:ph type="title"/>
          </p:nvPr>
        </p:nvSpPr>
        <p:spPr/>
        <p:txBody>
          <a:bodyPr/>
          <a:lstStyle/>
          <a:p>
            <a:r>
              <a:rPr lang="en-US" altLang="en-US" sz="2000" b="1" dirty="0">
                <a:solidFill>
                  <a:srgbClr val="71309E"/>
                </a:solidFill>
                <a:latin typeface="Times New Roman" panose="02020603050405020304" pitchFamily="18" charset="0"/>
              </a:rPr>
              <a:t>1.INTRODUCTION</a:t>
            </a:r>
            <a:br>
              <a:rPr lang="en-US" altLang="en-US" b="1" dirty="0">
                <a:solidFill>
                  <a:srgbClr val="71309E"/>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722CBAF-4CE4-4031-9256-01BC232D7924}"/>
              </a:ext>
            </a:extLst>
          </p:cNvPr>
          <p:cNvSpPr>
            <a:spLocks noGrp="1"/>
          </p:cNvSpPr>
          <p:nvPr>
            <p:ph idx="1"/>
          </p:nvPr>
        </p:nvSpPr>
        <p:spPr>
          <a:xfrm>
            <a:off x="545359" y="1270000"/>
            <a:ext cx="8596668" cy="3880773"/>
          </a:xfrm>
        </p:spPr>
        <p:txBody>
          <a:bodyPr>
            <a:normAutofit fontScale="92500" lnSpcReduction="20000"/>
          </a:bodyPr>
          <a:lstStyle/>
          <a:p>
            <a:pPr marL="0" indent="0">
              <a:spcBef>
                <a:spcPts val="3575"/>
              </a:spcBef>
              <a:spcAft>
                <a:spcPts val="2100"/>
              </a:spcAft>
              <a:buNone/>
            </a:pPr>
            <a:r>
              <a:rPr lang="en-US" altLang="en-US" b="1" dirty="0">
                <a:latin typeface="Times New Roman" panose="02020603050405020304" pitchFamily="18" charset="0"/>
              </a:rPr>
              <a:t>  What is Brain </a:t>
            </a:r>
            <a:r>
              <a:rPr lang="en-US" altLang="en-US" b="1" dirty="0" err="1">
                <a:latin typeface="Times New Roman" panose="02020603050405020304" pitchFamily="18" charset="0"/>
              </a:rPr>
              <a:t>Tumour</a:t>
            </a:r>
            <a:r>
              <a:rPr lang="en-US" altLang="en-US" b="1" dirty="0">
                <a:latin typeface="Times New Roman" panose="02020603050405020304" pitchFamily="18" charset="0"/>
              </a:rPr>
              <a:t>?</a:t>
            </a:r>
          </a:p>
          <a:p>
            <a:r>
              <a:rPr lang="en-US" altLang="en-US" dirty="0">
                <a:solidFill>
                  <a:srgbClr val="333333"/>
                </a:solidFill>
                <a:latin typeface="Times New Roman" panose="02020603050405020304" pitchFamily="18" charset="0"/>
                <a:cs typeface="Times New Roman" panose="02020603050405020304" pitchFamily="18" charset="0"/>
              </a:rPr>
              <a:t>A brain </a:t>
            </a:r>
            <a:r>
              <a:rPr lang="en-US" altLang="en-US" dirty="0" err="1">
                <a:solidFill>
                  <a:srgbClr val="333333"/>
                </a:solidFill>
                <a:latin typeface="Times New Roman" panose="02020603050405020304" pitchFamily="18" charset="0"/>
                <a:cs typeface="Times New Roman" panose="02020603050405020304" pitchFamily="18" charset="0"/>
              </a:rPr>
              <a:t>tumour</a:t>
            </a:r>
            <a:r>
              <a:rPr lang="en-US" altLang="en-US" dirty="0">
                <a:solidFill>
                  <a:srgbClr val="333333"/>
                </a:solidFill>
                <a:latin typeface="Times New Roman" panose="02020603050405020304" pitchFamily="18" charset="0"/>
                <a:cs typeface="Times New Roman" panose="02020603050405020304" pitchFamily="18" charset="0"/>
              </a:rPr>
              <a:t> is a lump of abnormal cells growing in your brain. Your brain controls all the parts of your body and its functions and produces your thoughts. Depending on where it is, a </a:t>
            </a:r>
            <a:r>
              <a:rPr lang="en-US" altLang="en-US" dirty="0" err="1">
                <a:solidFill>
                  <a:srgbClr val="333333"/>
                </a:solidFill>
                <a:latin typeface="Times New Roman" panose="02020603050405020304" pitchFamily="18" charset="0"/>
                <a:cs typeface="Times New Roman" panose="02020603050405020304" pitchFamily="18" charset="0"/>
              </a:rPr>
              <a:t>tumour</a:t>
            </a:r>
            <a:r>
              <a:rPr lang="en-US" altLang="en-US" dirty="0">
                <a:solidFill>
                  <a:srgbClr val="333333"/>
                </a:solidFill>
                <a:latin typeface="Times New Roman" panose="02020603050405020304" pitchFamily="18" charset="0"/>
                <a:cs typeface="Times New Roman" panose="02020603050405020304" pitchFamily="18" charset="0"/>
              </a:rPr>
              <a:t> in your brain can affect these functions.</a:t>
            </a:r>
          </a:p>
          <a:p>
            <a:r>
              <a:rPr lang="en-US" altLang="en-US" dirty="0">
                <a:solidFill>
                  <a:srgbClr val="333333"/>
                </a:solidFill>
                <a:latin typeface="Times New Roman" panose="02020603050405020304" pitchFamily="18" charset="0"/>
                <a:cs typeface="Times New Roman" panose="02020603050405020304" pitchFamily="18" charset="0"/>
              </a:rPr>
              <a:t>When cells grow abnormally they may form a lump called a </a:t>
            </a:r>
            <a:r>
              <a:rPr lang="en-US" altLang="en-US" dirty="0" err="1">
                <a:solidFill>
                  <a:srgbClr val="333333"/>
                </a:solidFill>
                <a:latin typeface="Times New Roman" panose="02020603050405020304" pitchFamily="18" charset="0"/>
                <a:cs typeface="Times New Roman" panose="02020603050405020304" pitchFamily="18" charset="0"/>
              </a:rPr>
              <a:t>tumour</a:t>
            </a:r>
            <a:r>
              <a:rPr lang="en-US" altLang="en-US" dirty="0">
                <a:solidFill>
                  <a:srgbClr val="333333"/>
                </a:solidFill>
                <a:latin typeface="Times New Roman" panose="02020603050405020304" pitchFamily="18" charset="0"/>
                <a:cs typeface="Times New Roman" panose="02020603050405020304" pitchFamily="18" charset="0"/>
              </a:rPr>
              <a:t>. </a:t>
            </a:r>
            <a:r>
              <a:rPr lang="en-US" altLang="en-US" dirty="0" err="1">
                <a:solidFill>
                  <a:srgbClr val="333333"/>
                </a:solidFill>
                <a:latin typeface="Times New Roman" panose="02020603050405020304" pitchFamily="18" charset="0"/>
                <a:cs typeface="Times New Roman" panose="02020603050405020304" pitchFamily="18" charset="0"/>
              </a:rPr>
              <a:t>Tumours</a:t>
            </a:r>
            <a:r>
              <a:rPr lang="en-US" altLang="en-US" dirty="0">
                <a:solidFill>
                  <a:srgbClr val="333333"/>
                </a:solidFill>
                <a:latin typeface="Times New Roman" panose="02020603050405020304" pitchFamily="18" charset="0"/>
                <a:cs typeface="Times New Roman" panose="02020603050405020304" pitchFamily="18" charset="0"/>
              </a:rPr>
              <a:t> can be benign or malignant.</a:t>
            </a:r>
          </a:p>
          <a:p>
            <a:r>
              <a:rPr lang="en-US" altLang="en-US" dirty="0">
                <a:solidFill>
                  <a:srgbClr val="333333"/>
                </a:solidFill>
                <a:latin typeface="Times New Roman" panose="02020603050405020304" pitchFamily="18" charset="0"/>
                <a:cs typeface="Times New Roman" panose="02020603050405020304" pitchFamily="18" charset="0"/>
              </a:rPr>
              <a:t>A benign </a:t>
            </a:r>
            <a:r>
              <a:rPr lang="en-US" altLang="en-US" dirty="0" err="1">
                <a:solidFill>
                  <a:srgbClr val="333333"/>
                </a:solidFill>
                <a:latin typeface="Times New Roman" panose="02020603050405020304" pitchFamily="18" charset="0"/>
                <a:cs typeface="Times New Roman" panose="02020603050405020304" pitchFamily="18" charset="0"/>
              </a:rPr>
              <a:t>tumour</a:t>
            </a:r>
            <a:r>
              <a:rPr lang="en-US" altLang="en-US" dirty="0">
                <a:solidFill>
                  <a:srgbClr val="333333"/>
                </a:solidFill>
                <a:latin typeface="Times New Roman" panose="02020603050405020304" pitchFamily="18" charset="0"/>
                <a:cs typeface="Times New Roman" panose="02020603050405020304" pitchFamily="18" charset="0"/>
              </a:rPr>
              <a:t> grows slowly and stays in one place. It is unlikely to spread to another part of your body.</a:t>
            </a:r>
          </a:p>
          <a:p>
            <a:r>
              <a:rPr lang="en-US" altLang="en-US" dirty="0">
                <a:solidFill>
                  <a:srgbClr val="333333"/>
                </a:solidFill>
                <a:latin typeface="Times New Roman" panose="02020603050405020304" pitchFamily="18" charset="0"/>
                <a:cs typeface="Times New Roman" panose="02020603050405020304" pitchFamily="18" charset="0"/>
              </a:rPr>
              <a:t>Benign </a:t>
            </a:r>
            <a:r>
              <a:rPr lang="en-US" altLang="en-US" dirty="0" err="1">
                <a:solidFill>
                  <a:srgbClr val="333333"/>
                </a:solidFill>
                <a:latin typeface="Times New Roman" panose="02020603050405020304" pitchFamily="18" charset="0"/>
                <a:cs typeface="Times New Roman" panose="02020603050405020304" pitchFamily="18" charset="0"/>
              </a:rPr>
              <a:t>tumours</a:t>
            </a:r>
            <a:r>
              <a:rPr lang="en-US" altLang="en-US" dirty="0">
                <a:solidFill>
                  <a:srgbClr val="333333"/>
                </a:solidFill>
                <a:latin typeface="Times New Roman" panose="02020603050405020304" pitchFamily="18" charset="0"/>
                <a:cs typeface="Times New Roman" panose="02020603050405020304" pitchFamily="18" charset="0"/>
              </a:rPr>
              <a:t> are not </a:t>
            </a:r>
            <a:r>
              <a:rPr lang="en-US" altLang="en-US" u="sng" dirty="0">
                <a:solidFill>
                  <a:srgbClr val="1E4759"/>
                </a:solidFill>
                <a:latin typeface="Times New Roman" panose="02020603050405020304" pitchFamily="18" charset="0"/>
                <a:cs typeface="Times New Roman" panose="02020603050405020304" pitchFamily="18" charset="0"/>
              </a:rPr>
              <a:t>cancerous</a:t>
            </a:r>
            <a:r>
              <a:rPr lang="en-US" altLang="en-US" dirty="0">
                <a:solidFill>
                  <a:srgbClr val="333333"/>
                </a:solidFill>
                <a:latin typeface="Times New Roman" panose="02020603050405020304" pitchFamily="18" charset="0"/>
                <a:cs typeface="Times New Roman" panose="02020603050405020304" pitchFamily="18" charset="0"/>
              </a:rPr>
              <a:t>. But a benign brain </a:t>
            </a:r>
            <a:r>
              <a:rPr lang="en-US" altLang="en-US" dirty="0" err="1">
                <a:solidFill>
                  <a:srgbClr val="333333"/>
                </a:solidFill>
                <a:latin typeface="Times New Roman" panose="02020603050405020304" pitchFamily="18" charset="0"/>
                <a:cs typeface="Times New Roman" panose="02020603050405020304" pitchFamily="18" charset="0"/>
              </a:rPr>
              <a:t>tumour</a:t>
            </a:r>
            <a:r>
              <a:rPr lang="en-US" altLang="en-US" dirty="0">
                <a:solidFill>
                  <a:srgbClr val="333333"/>
                </a:solidFill>
                <a:latin typeface="Times New Roman" panose="02020603050405020304" pitchFamily="18" charset="0"/>
                <a:cs typeface="Times New Roman" panose="02020603050405020304" pitchFamily="18" charset="0"/>
              </a:rPr>
              <a:t> may cause damage just by being there and pressing on your brain or nearby structures. This can be life-threatening, or affect other parts of your body, and may need urgent treatment.</a:t>
            </a:r>
          </a:p>
          <a:p>
            <a:r>
              <a:rPr lang="en-US" altLang="en-US" dirty="0">
                <a:solidFill>
                  <a:srgbClr val="333333"/>
                </a:solidFill>
                <a:latin typeface="Times New Roman" panose="02020603050405020304" pitchFamily="18" charset="0"/>
                <a:cs typeface="Times New Roman" panose="02020603050405020304" pitchFamily="18" charset="0"/>
              </a:rPr>
              <a:t>A malignant </a:t>
            </a:r>
            <a:r>
              <a:rPr lang="en-US" altLang="en-US" dirty="0" err="1">
                <a:solidFill>
                  <a:srgbClr val="333333"/>
                </a:solidFill>
                <a:latin typeface="Times New Roman" panose="02020603050405020304" pitchFamily="18" charset="0"/>
                <a:cs typeface="Times New Roman" panose="02020603050405020304" pitchFamily="18" charset="0"/>
              </a:rPr>
              <a:t>tumour</a:t>
            </a:r>
            <a:r>
              <a:rPr lang="en-US" altLang="en-US" dirty="0">
                <a:solidFill>
                  <a:srgbClr val="333333"/>
                </a:solidFill>
                <a:latin typeface="Times New Roman" panose="02020603050405020304" pitchFamily="18" charset="0"/>
                <a:cs typeface="Times New Roman" panose="02020603050405020304" pitchFamily="18" charset="0"/>
              </a:rPr>
              <a:t> is cancerous. It can spread to other areas of your brain, or your body. It can also be called brain cancer.</a:t>
            </a:r>
          </a:p>
          <a:p>
            <a:endParaRPr lang="en-IN" dirty="0"/>
          </a:p>
        </p:txBody>
      </p:sp>
    </p:spTree>
    <p:extLst>
      <p:ext uri="{BB962C8B-B14F-4D97-AF65-F5344CB8AC3E}">
        <p14:creationId xmlns:p14="http://schemas.microsoft.com/office/powerpoint/2010/main" val="1961213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6AD0FF-538C-44E7-98AE-C715FA5DF6B3}"/>
              </a:ext>
            </a:extLst>
          </p:cNvPr>
          <p:cNvSpPr>
            <a:spLocks noGrp="1"/>
          </p:cNvSpPr>
          <p:nvPr>
            <p:ph idx="1"/>
          </p:nvPr>
        </p:nvSpPr>
        <p:spPr>
          <a:xfrm>
            <a:off x="469944" y="180960"/>
            <a:ext cx="8596668" cy="3880773"/>
          </a:xfrm>
        </p:spPr>
        <p:txBody>
          <a:bodyPr>
            <a:normAutofit fontScale="25000" lnSpcReduction="20000"/>
          </a:bodyPr>
          <a:lstStyle/>
          <a:p>
            <a:pPr>
              <a:defRPr/>
            </a:pPr>
            <a:r>
              <a:rPr lang="en-US" sz="8000" b="1" dirty="0">
                <a:latin typeface="Times New Roman" panose="02020603050405020304" pitchFamily="18" charset="0"/>
                <a:cs typeface="Times New Roman" panose="02020603050405020304" pitchFamily="18" charset="0"/>
              </a:rPr>
              <a:t>Types of brain </a:t>
            </a:r>
            <a:r>
              <a:rPr lang="en-US" sz="8000" b="1" dirty="0" err="1">
                <a:latin typeface="Times New Roman" panose="02020603050405020304" pitchFamily="18" charset="0"/>
                <a:cs typeface="Times New Roman" panose="02020603050405020304" pitchFamily="18" charset="0"/>
              </a:rPr>
              <a:t>tumours</a:t>
            </a:r>
            <a:endParaRPr lang="en-US" sz="8000" b="1" dirty="0">
              <a:latin typeface="Times New Roman" panose="02020603050405020304" pitchFamily="18" charset="0"/>
              <a:cs typeface="Times New Roman" panose="02020603050405020304" pitchFamily="18" charset="0"/>
            </a:endParaRPr>
          </a:p>
          <a:p>
            <a:pPr>
              <a:defRPr/>
            </a:pPr>
            <a:endParaRPr lang="en-US" sz="8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defRPr/>
            </a:pPr>
            <a:r>
              <a:rPr lang="en-US" sz="8000" dirty="0">
                <a:latin typeface="Times New Roman" panose="02020603050405020304" pitchFamily="18" charset="0"/>
                <a:cs typeface="Times New Roman" panose="02020603050405020304" pitchFamily="18" charset="0"/>
              </a:rPr>
              <a:t>Brain </a:t>
            </a:r>
            <a:r>
              <a:rPr lang="en-US" sz="8000" dirty="0" err="1">
                <a:latin typeface="Times New Roman" panose="02020603050405020304" pitchFamily="18" charset="0"/>
                <a:cs typeface="Times New Roman" panose="02020603050405020304" pitchFamily="18" charset="0"/>
              </a:rPr>
              <a:t>tumours</a:t>
            </a:r>
            <a:r>
              <a:rPr lang="en-US" sz="8000" dirty="0">
                <a:latin typeface="Times New Roman" panose="02020603050405020304" pitchFamily="18" charset="0"/>
                <a:cs typeface="Times New Roman" panose="02020603050405020304" pitchFamily="18" charset="0"/>
              </a:rPr>
              <a:t> can either be ‘primary’ or ‘secondary’.</a:t>
            </a:r>
          </a:p>
          <a:p>
            <a:pPr>
              <a:buFont typeface="Arial" panose="020B0604020202020204" pitchFamily="34" charset="0"/>
              <a:buChar char="•"/>
              <a:defRPr/>
            </a:pPr>
            <a:r>
              <a:rPr lang="en-US" sz="8000" dirty="0">
                <a:latin typeface="Times New Roman" panose="02020603050405020304" pitchFamily="18" charset="0"/>
                <a:cs typeface="Times New Roman" panose="02020603050405020304" pitchFamily="18" charset="0"/>
              </a:rPr>
              <a:t>A primary brain </a:t>
            </a:r>
            <a:r>
              <a:rPr lang="en-US" sz="8000" dirty="0" err="1">
                <a:latin typeface="Times New Roman" panose="02020603050405020304" pitchFamily="18" charset="0"/>
                <a:cs typeface="Times New Roman" panose="02020603050405020304" pitchFamily="18" charset="0"/>
              </a:rPr>
              <a:t>tumour</a:t>
            </a:r>
            <a:r>
              <a:rPr lang="en-US" sz="8000" dirty="0">
                <a:latin typeface="Times New Roman" panose="02020603050405020304" pitchFamily="18" charset="0"/>
                <a:cs typeface="Times New Roman" panose="02020603050405020304" pitchFamily="18" charset="0"/>
              </a:rPr>
              <a:t> is a </a:t>
            </a:r>
            <a:r>
              <a:rPr lang="en-US" sz="8000" dirty="0" err="1">
                <a:latin typeface="Times New Roman" panose="02020603050405020304" pitchFamily="18" charset="0"/>
                <a:cs typeface="Times New Roman" panose="02020603050405020304" pitchFamily="18" charset="0"/>
              </a:rPr>
              <a:t>tumour</a:t>
            </a:r>
            <a:r>
              <a:rPr lang="en-US" sz="8000" dirty="0">
                <a:latin typeface="Times New Roman" panose="02020603050405020304" pitchFamily="18" charset="0"/>
                <a:cs typeface="Times New Roman" panose="02020603050405020304" pitchFamily="18" charset="0"/>
              </a:rPr>
              <a:t> that has started in the brain.</a:t>
            </a:r>
          </a:p>
          <a:p>
            <a:pPr>
              <a:buFont typeface="Arial" panose="020B0604020202020204" pitchFamily="34" charset="0"/>
              <a:buChar char="•"/>
              <a:defRPr/>
            </a:pPr>
            <a:r>
              <a:rPr lang="en-US" sz="8000" dirty="0">
                <a:latin typeface="Times New Roman" panose="02020603050405020304" pitchFamily="18" charset="0"/>
                <a:cs typeface="Times New Roman" panose="02020603050405020304" pitchFamily="18" charset="0"/>
              </a:rPr>
              <a:t>A secondary brain </a:t>
            </a:r>
            <a:r>
              <a:rPr lang="en-US" sz="8000" dirty="0" err="1">
                <a:latin typeface="Times New Roman" panose="02020603050405020304" pitchFamily="18" charset="0"/>
                <a:cs typeface="Times New Roman" panose="02020603050405020304" pitchFamily="18" charset="0"/>
              </a:rPr>
              <a:t>tumour</a:t>
            </a:r>
            <a:r>
              <a:rPr lang="en-US" sz="8000" dirty="0">
                <a:latin typeface="Times New Roman" panose="02020603050405020304" pitchFamily="18" charset="0"/>
                <a:cs typeface="Times New Roman" panose="02020603050405020304" pitchFamily="18" charset="0"/>
              </a:rPr>
              <a:t> is a cancer from elsewhere in the body that has spread or ‘</a:t>
            </a:r>
            <a:r>
              <a:rPr lang="en-US" sz="8000" dirty="0" err="1">
                <a:latin typeface="Times New Roman" panose="02020603050405020304" pitchFamily="18" charset="0"/>
                <a:cs typeface="Times New Roman" panose="02020603050405020304" pitchFamily="18" charset="0"/>
              </a:rPr>
              <a:t>metastasised</a:t>
            </a:r>
            <a:r>
              <a:rPr lang="en-US" sz="8000" dirty="0">
                <a:latin typeface="Times New Roman" panose="02020603050405020304" pitchFamily="18" charset="0"/>
                <a:cs typeface="Times New Roman" panose="02020603050405020304" pitchFamily="18" charset="0"/>
              </a:rPr>
              <a:t>’ to the brain.</a:t>
            </a:r>
          </a:p>
          <a:p>
            <a:pPr>
              <a:buFont typeface="Arial" panose="020B0604020202020204" pitchFamily="34" charset="0"/>
              <a:buChar char="•"/>
              <a:defRPr/>
            </a:pPr>
            <a:r>
              <a:rPr lang="en-US" sz="8000" dirty="0">
                <a:latin typeface="Times New Roman" panose="02020603050405020304" pitchFamily="18" charset="0"/>
                <a:cs typeface="Times New Roman" panose="02020603050405020304" pitchFamily="18" charset="0"/>
              </a:rPr>
              <a:t>There are many types of brain </a:t>
            </a:r>
            <a:r>
              <a:rPr lang="en-US" sz="8000" dirty="0" err="1">
                <a:latin typeface="Times New Roman" panose="02020603050405020304" pitchFamily="18" charset="0"/>
                <a:cs typeface="Times New Roman" panose="02020603050405020304" pitchFamily="18" charset="0"/>
              </a:rPr>
              <a:t>tumours</a:t>
            </a:r>
            <a:r>
              <a:rPr lang="en-US" sz="8000" dirty="0">
                <a:latin typeface="Times New Roman" panose="02020603050405020304" pitchFamily="18" charset="0"/>
                <a:cs typeface="Times New Roman" panose="02020603050405020304" pitchFamily="18" charset="0"/>
              </a:rPr>
              <a:t>. Together with </a:t>
            </a:r>
            <a:r>
              <a:rPr lang="en-US" sz="8000" dirty="0" err="1">
                <a:latin typeface="Times New Roman" panose="02020603050405020304" pitchFamily="18" charset="0"/>
                <a:cs typeface="Times New Roman" panose="02020603050405020304" pitchFamily="18" charset="0"/>
              </a:rPr>
              <a:t>tumours</a:t>
            </a:r>
            <a:r>
              <a:rPr lang="en-US" sz="8000" dirty="0">
                <a:latin typeface="Times New Roman" panose="02020603050405020304" pitchFamily="18" charset="0"/>
                <a:cs typeface="Times New Roman" panose="02020603050405020304" pitchFamily="18" charset="0"/>
              </a:rPr>
              <a:t> of the spinal cord, they are collectively called central nervous system (CNS) </a:t>
            </a:r>
            <a:r>
              <a:rPr lang="en-US" sz="8000" dirty="0" err="1">
                <a:latin typeface="Times New Roman" panose="02020603050405020304" pitchFamily="18" charset="0"/>
                <a:cs typeface="Times New Roman" panose="02020603050405020304" pitchFamily="18" charset="0"/>
              </a:rPr>
              <a:t>tumours</a:t>
            </a:r>
            <a:r>
              <a:rPr lang="en-US" sz="8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defRPr/>
            </a:pPr>
            <a:endParaRPr lang="en-US" sz="8000" dirty="0">
              <a:latin typeface="Times New Roman" panose="02020603050405020304" pitchFamily="18" charset="0"/>
              <a:cs typeface="Times New Roman" panose="02020603050405020304" pitchFamily="18" charset="0"/>
            </a:endParaRPr>
          </a:p>
          <a:p>
            <a:r>
              <a:rPr lang="en-US" altLang="en-US" sz="8000" b="1" dirty="0">
                <a:latin typeface="Times New Roman" panose="02020603050405020304" pitchFamily="18" charset="0"/>
                <a:cs typeface="Times New Roman" panose="02020603050405020304" pitchFamily="18" charset="0"/>
              </a:rPr>
              <a:t>Primary brain </a:t>
            </a:r>
            <a:r>
              <a:rPr lang="en-US" altLang="en-US" sz="8000" b="1" dirty="0" err="1">
                <a:latin typeface="Times New Roman" panose="02020603050405020304" pitchFamily="18" charset="0"/>
                <a:cs typeface="Times New Roman" panose="02020603050405020304" pitchFamily="18" charset="0"/>
              </a:rPr>
              <a:t>tumours</a:t>
            </a:r>
            <a:endParaRPr lang="en-US" altLang="en-US" sz="8000" b="1" dirty="0">
              <a:latin typeface="Times New Roman" panose="02020603050405020304" pitchFamily="18" charset="0"/>
              <a:cs typeface="Times New Roman" panose="02020603050405020304" pitchFamily="18" charset="0"/>
            </a:endParaRPr>
          </a:p>
          <a:p>
            <a:endParaRPr lang="en-US" altLang="en-US" sz="8000" b="1" dirty="0">
              <a:latin typeface="Times New Roman" panose="02020603050405020304" pitchFamily="18" charset="0"/>
              <a:cs typeface="Times New Roman" panose="02020603050405020304" pitchFamily="18" charset="0"/>
            </a:endParaRPr>
          </a:p>
          <a:p>
            <a:r>
              <a:rPr lang="en-US" altLang="en-US" sz="8000" dirty="0">
                <a:latin typeface="Times New Roman" panose="02020603050405020304" pitchFamily="18" charset="0"/>
                <a:cs typeface="Times New Roman" panose="02020603050405020304" pitchFamily="18" charset="0"/>
              </a:rPr>
              <a:t>Brain </a:t>
            </a:r>
            <a:r>
              <a:rPr lang="en-US" altLang="en-US" sz="8000" dirty="0" err="1">
                <a:latin typeface="Times New Roman" panose="02020603050405020304" pitchFamily="18" charset="0"/>
                <a:cs typeface="Times New Roman" panose="02020603050405020304" pitchFamily="18" charset="0"/>
              </a:rPr>
              <a:t>tumours</a:t>
            </a:r>
            <a:r>
              <a:rPr lang="en-US" altLang="en-US" sz="8000" dirty="0">
                <a:latin typeface="Times New Roman" panose="02020603050405020304" pitchFamily="18" charset="0"/>
                <a:cs typeface="Times New Roman" panose="02020603050405020304" pitchFamily="18" charset="0"/>
              </a:rPr>
              <a:t> are usually named according to the type of cell they started in. Some common types of primary brain </a:t>
            </a:r>
            <a:r>
              <a:rPr lang="en-US" altLang="en-US" sz="8000" dirty="0" err="1">
                <a:latin typeface="Times New Roman" panose="02020603050405020304" pitchFamily="18" charset="0"/>
                <a:cs typeface="Times New Roman" panose="02020603050405020304" pitchFamily="18" charset="0"/>
              </a:rPr>
              <a:t>tumours</a:t>
            </a:r>
            <a:r>
              <a:rPr lang="en-US" altLang="en-US" sz="8000" dirty="0">
                <a:latin typeface="Times New Roman" panose="02020603050405020304" pitchFamily="18" charset="0"/>
                <a:cs typeface="Times New Roman" panose="02020603050405020304" pitchFamily="18" charset="0"/>
              </a:rPr>
              <a:t> are gliomas (including </a:t>
            </a:r>
            <a:r>
              <a:rPr lang="en-US" altLang="en-US" sz="8000" dirty="0" err="1">
                <a:latin typeface="Times New Roman" panose="02020603050405020304" pitchFamily="18" charset="0"/>
                <a:cs typeface="Times New Roman" panose="02020603050405020304" pitchFamily="18" charset="0"/>
              </a:rPr>
              <a:t>astrocytomas</a:t>
            </a:r>
            <a:r>
              <a:rPr lang="en-US" altLang="en-US" sz="8000" dirty="0">
                <a:latin typeface="Times New Roman" panose="02020603050405020304" pitchFamily="18" charset="0"/>
                <a:cs typeface="Times New Roman" panose="02020603050405020304" pitchFamily="18" charset="0"/>
              </a:rPr>
              <a:t> and glioblastomas) — which start in glial cells, meningiomas — which start in the meninges, and medulloblastomas — which start in the cerebellum.</a:t>
            </a:r>
          </a:p>
          <a:p>
            <a:pPr>
              <a:buFont typeface="Arial" panose="020B0604020202020204" pitchFamily="34" charset="0"/>
              <a:buChar char="•"/>
              <a:defRPr/>
            </a:pPr>
            <a:endParaRPr lang="en-US" sz="8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50837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AE29BB-7368-4A1A-B6B5-3ED00BF1BEE9}"/>
              </a:ext>
            </a:extLst>
          </p:cNvPr>
          <p:cNvSpPr>
            <a:spLocks noGrp="1"/>
          </p:cNvSpPr>
          <p:nvPr>
            <p:ph idx="1"/>
          </p:nvPr>
        </p:nvSpPr>
        <p:spPr>
          <a:xfrm>
            <a:off x="441664" y="199813"/>
            <a:ext cx="8596668" cy="3880773"/>
          </a:xfrm>
        </p:spPr>
        <p:txBody>
          <a:bodyPr/>
          <a:lstStyle/>
          <a:p>
            <a:r>
              <a:rPr lang="en-US" altLang="en-US" b="1" dirty="0">
                <a:latin typeface="Times New Roman" panose="02020603050405020304" pitchFamily="18" charset="0"/>
                <a:cs typeface="Times New Roman" panose="02020603050405020304" pitchFamily="18" charset="0"/>
              </a:rPr>
              <a:t>Secondary brain </a:t>
            </a:r>
            <a:r>
              <a:rPr lang="en-US" altLang="en-US" b="1" dirty="0" err="1">
                <a:latin typeface="Times New Roman" panose="02020603050405020304" pitchFamily="18" charset="0"/>
                <a:cs typeface="Times New Roman" panose="02020603050405020304" pitchFamily="18" charset="0"/>
              </a:rPr>
              <a:t>tumours</a:t>
            </a:r>
            <a:endParaRPr lang="en-US" altLang="en-US" b="1" dirty="0">
              <a:latin typeface="Times New Roman" panose="02020603050405020304" pitchFamily="18" charset="0"/>
              <a:cs typeface="Times New Roman" panose="02020603050405020304" pitchFamily="18" charset="0"/>
            </a:endParaRPr>
          </a:p>
          <a:p>
            <a:endParaRPr lang="en-US" altLang="en-US" b="1"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Most types of cancer can spread to the brain, forming a secondary brain </a:t>
            </a:r>
            <a:r>
              <a:rPr lang="en-US" altLang="en-US" dirty="0" err="1">
                <a:latin typeface="Times New Roman" panose="02020603050405020304" pitchFamily="18" charset="0"/>
                <a:cs typeface="Times New Roman" panose="02020603050405020304" pitchFamily="18" charset="0"/>
              </a:rPr>
              <a:t>tumour</a:t>
            </a:r>
            <a:r>
              <a:rPr lang="en-US" altLang="en-US" dirty="0">
                <a:latin typeface="Times New Roman" panose="02020603050405020304" pitchFamily="18" charset="0"/>
                <a:cs typeface="Times New Roman" panose="02020603050405020304" pitchFamily="18" charset="0"/>
              </a:rPr>
              <a:t>. The types of cancer that most commonly spread to the brain include </a:t>
            </a:r>
            <a:r>
              <a:rPr lang="en-US" altLang="en-US" u="sng" dirty="0">
                <a:latin typeface="Times New Roman" panose="02020603050405020304" pitchFamily="18" charset="0"/>
                <a:cs typeface="Times New Roman" panose="02020603050405020304" pitchFamily="18" charset="0"/>
                <a:hlinkClick r:id="rId2"/>
              </a:rPr>
              <a:t>melanoma</a:t>
            </a:r>
            <a:r>
              <a:rPr lang="en-US" altLang="en-US" dirty="0">
                <a:latin typeface="Times New Roman" panose="02020603050405020304" pitchFamily="18" charset="0"/>
                <a:cs typeface="Times New Roman" panose="02020603050405020304" pitchFamily="18" charset="0"/>
              </a:rPr>
              <a:t>, </a:t>
            </a:r>
            <a:r>
              <a:rPr lang="en-US" altLang="en-US" u="sng" dirty="0">
                <a:latin typeface="Times New Roman" panose="02020603050405020304" pitchFamily="18" charset="0"/>
                <a:cs typeface="Times New Roman" panose="02020603050405020304" pitchFamily="18" charset="0"/>
                <a:hlinkClick r:id="rId3"/>
              </a:rPr>
              <a:t>bowel</a:t>
            </a:r>
            <a:r>
              <a:rPr lang="en-US" altLang="en-US" dirty="0">
                <a:latin typeface="Times New Roman" panose="02020603050405020304" pitchFamily="18" charset="0"/>
                <a:cs typeface="Times New Roman" panose="02020603050405020304" pitchFamily="18" charset="0"/>
              </a:rPr>
              <a:t>, </a:t>
            </a:r>
            <a:r>
              <a:rPr lang="en-US" altLang="en-US" u="sng" dirty="0">
                <a:latin typeface="Times New Roman" panose="02020603050405020304" pitchFamily="18" charset="0"/>
                <a:cs typeface="Times New Roman" panose="02020603050405020304" pitchFamily="18" charset="0"/>
                <a:hlinkClick r:id="rId4"/>
              </a:rPr>
              <a:t>breast</a:t>
            </a:r>
            <a:r>
              <a:rPr lang="en-US" altLang="en-US" dirty="0">
                <a:latin typeface="Times New Roman" panose="02020603050405020304" pitchFamily="18" charset="0"/>
                <a:cs typeface="Times New Roman" panose="02020603050405020304" pitchFamily="18" charset="0"/>
              </a:rPr>
              <a:t>, </a:t>
            </a:r>
            <a:r>
              <a:rPr lang="en-US" altLang="en-US" u="sng" dirty="0">
                <a:latin typeface="Times New Roman" panose="02020603050405020304" pitchFamily="18" charset="0"/>
                <a:cs typeface="Times New Roman" panose="02020603050405020304" pitchFamily="18" charset="0"/>
                <a:hlinkClick r:id="rId5"/>
              </a:rPr>
              <a:t>kidney</a:t>
            </a:r>
            <a:r>
              <a:rPr lang="en-US" altLang="en-US" dirty="0">
                <a:latin typeface="Times New Roman" panose="02020603050405020304" pitchFamily="18" charset="0"/>
                <a:cs typeface="Times New Roman" panose="02020603050405020304" pitchFamily="18" charset="0"/>
              </a:rPr>
              <a:t> and </a:t>
            </a:r>
            <a:r>
              <a:rPr lang="en-US" altLang="en-US" u="sng" dirty="0">
                <a:latin typeface="Times New Roman" panose="02020603050405020304" pitchFamily="18" charset="0"/>
                <a:cs typeface="Times New Roman" panose="02020603050405020304" pitchFamily="18" charset="0"/>
                <a:hlinkClick r:id="rId6"/>
              </a:rPr>
              <a:t>lung cancers</a:t>
            </a:r>
            <a:r>
              <a:rPr lang="en-US" altLang="en-US"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959709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6F628-1EA3-4600-93A1-32D611553142}"/>
              </a:ext>
            </a:extLst>
          </p:cNvPr>
          <p:cNvSpPr>
            <a:spLocks noGrp="1"/>
          </p:cNvSpPr>
          <p:nvPr>
            <p:ph type="title"/>
          </p:nvPr>
        </p:nvSpPr>
        <p:spPr/>
        <p:txBody>
          <a:bodyPr/>
          <a:lstStyle/>
          <a:p>
            <a:r>
              <a:rPr lang="en-US" altLang="en-US" sz="2000" b="1" dirty="0">
                <a:solidFill>
                  <a:srgbClr val="71309E"/>
                </a:solidFill>
                <a:latin typeface="Times New Roman" panose="02020603050405020304" pitchFamily="18" charset="0"/>
              </a:rPr>
              <a:t>2.AIMS AND OBJECTIVES</a:t>
            </a:r>
            <a:br>
              <a:rPr lang="en-US" altLang="en-US" b="1" dirty="0">
                <a:solidFill>
                  <a:srgbClr val="71309E"/>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B3A6E72-18DA-403F-8679-A501A58815E9}"/>
              </a:ext>
            </a:extLst>
          </p:cNvPr>
          <p:cNvSpPr>
            <a:spLocks noGrp="1"/>
          </p:cNvSpPr>
          <p:nvPr>
            <p:ph idx="1"/>
          </p:nvPr>
        </p:nvSpPr>
        <p:spPr>
          <a:xfrm>
            <a:off x="611346" y="1270000"/>
            <a:ext cx="8596668" cy="3880773"/>
          </a:xfrm>
        </p:spPr>
        <p:txBody>
          <a:bodyPr/>
          <a:lstStyle/>
          <a:p>
            <a:r>
              <a:rPr lang="en-US" altLang="en-US" dirty="0">
                <a:latin typeface="Times New Roman" panose="02020603050405020304" pitchFamily="18" charset="0"/>
              </a:rPr>
              <a:t>1. Performing Image segmentation following the Image Enhancement using various available techniques</a:t>
            </a:r>
            <a:r>
              <a:rPr lang="en-US" altLang="en-US" sz="1400" dirty="0">
                <a:latin typeface="Times New Roman" panose="02020603050405020304" pitchFamily="18" charset="0"/>
              </a:rPr>
              <a:t>.</a:t>
            </a:r>
          </a:p>
          <a:p>
            <a:pPr algn="just">
              <a:lnSpc>
                <a:spcPts val="3813"/>
              </a:lnSpc>
            </a:pPr>
            <a:r>
              <a:rPr lang="en-US" altLang="en-US" dirty="0">
                <a:latin typeface="Times New Roman" panose="02020603050405020304" pitchFamily="18" charset="0"/>
              </a:rPr>
              <a:t>2. Detection of possible locations, from enhanced segmented images.</a:t>
            </a:r>
          </a:p>
          <a:p>
            <a:pPr algn="just">
              <a:lnSpc>
                <a:spcPts val="3813"/>
              </a:lnSpc>
            </a:pPr>
            <a:r>
              <a:rPr lang="en-US" altLang="en-US" dirty="0">
                <a:latin typeface="Times New Roman" panose="02020603050405020304" pitchFamily="18" charset="0"/>
              </a:rPr>
              <a:t>3. Analysis and comparison of different algorithms to procure most suitable techniques.</a:t>
            </a:r>
          </a:p>
          <a:p>
            <a:r>
              <a:rPr lang="en-US" altLang="en-US" dirty="0">
                <a:latin typeface="Times New Roman" panose="02020603050405020304" pitchFamily="18" charset="0"/>
              </a:rPr>
              <a:t>Hence, reducing required time for analysis and improving the quality of diagnosis. Consequently minimizing the frequency of biopsies for lung cancer detection.</a:t>
            </a:r>
          </a:p>
          <a:p>
            <a:endParaRPr lang="en-IN" dirty="0"/>
          </a:p>
        </p:txBody>
      </p:sp>
    </p:spTree>
    <p:extLst>
      <p:ext uri="{BB962C8B-B14F-4D97-AF65-F5344CB8AC3E}">
        <p14:creationId xmlns:p14="http://schemas.microsoft.com/office/powerpoint/2010/main" val="2972217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3748A06-F395-4B6F-9E98-01F1386F2014}"/>
              </a:ext>
            </a:extLst>
          </p:cNvPr>
          <p:cNvGraphicFramePr>
            <a:graphicFrameLocks noGrp="1"/>
          </p:cNvGraphicFramePr>
          <p:nvPr>
            <p:extLst>
              <p:ext uri="{D42A27DB-BD31-4B8C-83A1-F6EECF244321}">
                <p14:modId xmlns:p14="http://schemas.microsoft.com/office/powerpoint/2010/main" val="3265196198"/>
              </p:ext>
            </p:extLst>
          </p:nvPr>
        </p:nvGraphicFramePr>
        <p:xfrm>
          <a:off x="485453" y="426830"/>
          <a:ext cx="11221093" cy="6416040"/>
        </p:xfrm>
        <a:graphic>
          <a:graphicData uri="http://schemas.openxmlformats.org/drawingml/2006/table">
            <a:tbl>
              <a:tblPr firstRow="1" bandRow="1">
                <a:tableStyleId>{5C22544A-7EE6-4342-B048-85BDC9FD1C3A}</a:tableStyleId>
              </a:tblPr>
              <a:tblGrid>
                <a:gridCol w="602196">
                  <a:extLst>
                    <a:ext uri="{9D8B030D-6E8A-4147-A177-3AD203B41FA5}">
                      <a16:colId xmlns:a16="http://schemas.microsoft.com/office/drawing/2014/main" val="346685206"/>
                    </a:ext>
                  </a:extLst>
                </a:gridCol>
                <a:gridCol w="3420458">
                  <a:extLst>
                    <a:ext uri="{9D8B030D-6E8A-4147-A177-3AD203B41FA5}">
                      <a16:colId xmlns:a16="http://schemas.microsoft.com/office/drawing/2014/main" val="1664529305"/>
                    </a:ext>
                  </a:extLst>
                </a:gridCol>
                <a:gridCol w="7198439">
                  <a:extLst>
                    <a:ext uri="{9D8B030D-6E8A-4147-A177-3AD203B41FA5}">
                      <a16:colId xmlns:a16="http://schemas.microsoft.com/office/drawing/2014/main" val="680938966"/>
                    </a:ext>
                  </a:extLst>
                </a:gridCol>
              </a:tblGrid>
              <a:tr h="594737">
                <a:tc>
                  <a:txBody>
                    <a:bodyPr/>
                    <a:lstStyle/>
                    <a:p>
                      <a:r>
                        <a:rPr lang="en-US" sz="1800" dirty="0">
                          <a:solidFill>
                            <a:schemeClr val="tx1">
                              <a:lumMod val="95000"/>
                              <a:lumOff val="5000"/>
                            </a:schemeClr>
                          </a:solidFill>
                          <a:latin typeface="Book Antiqua" panose="02040602050305030304" pitchFamily="18" charset="0"/>
                        </a:rPr>
                        <a:t>SL NO</a:t>
                      </a:r>
                    </a:p>
                  </a:txBody>
                  <a:tcPr>
                    <a:solidFill>
                      <a:schemeClr val="bg1">
                        <a:lumMod val="85000"/>
                      </a:schemeClr>
                    </a:solidFill>
                  </a:tcPr>
                </a:tc>
                <a:tc>
                  <a:txBody>
                    <a:bodyPr/>
                    <a:lstStyle/>
                    <a:p>
                      <a:r>
                        <a:rPr lang="en-US" sz="2400" dirty="0">
                          <a:solidFill>
                            <a:schemeClr val="tx1">
                              <a:lumMod val="95000"/>
                              <a:lumOff val="5000"/>
                            </a:schemeClr>
                          </a:solidFill>
                          <a:latin typeface="Book Antiqua" panose="02040602050305030304" pitchFamily="18" charset="0"/>
                        </a:rPr>
                        <a:t>TITLE</a:t>
                      </a:r>
                      <a:endParaRPr lang="en-IN" sz="2400" dirty="0">
                        <a:solidFill>
                          <a:schemeClr val="tx1">
                            <a:lumMod val="95000"/>
                            <a:lumOff val="5000"/>
                          </a:schemeClr>
                        </a:solidFill>
                        <a:latin typeface="Book Antiqua" panose="02040602050305030304" pitchFamily="18" charset="0"/>
                      </a:endParaRPr>
                    </a:p>
                  </a:txBody>
                  <a:tcPr>
                    <a:solidFill>
                      <a:schemeClr val="bg1">
                        <a:lumMod val="85000"/>
                      </a:schemeClr>
                    </a:solidFill>
                  </a:tcPr>
                </a:tc>
                <a:tc>
                  <a:txBody>
                    <a:bodyPr/>
                    <a:lstStyle/>
                    <a:p>
                      <a:r>
                        <a:rPr lang="en-US" sz="2400" dirty="0">
                          <a:solidFill>
                            <a:schemeClr val="tx1">
                              <a:lumMod val="95000"/>
                              <a:lumOff val="5000"/>
                            </a:schemeClr>
                          </a:solidFill>
                          <a:latin typeface="Book Antiqua" panose="02040602050305030304" pitchFamily="18" charset="0"/>
                        </a:rPr>
                        <a:t>INFERENCE</a:t>
                      </a:r>
                      <a:endParaRPr lang="en-IN" sz="2400" dirty="0">
                        <a:solidFill>
                          <a:schemeClr val="tx1">
                            <a:lumMod val="95000"/>
                            <a:lumOff val="5000"/>
                          </a:schemeClr>
                        </a:solidFill>
                        <a:latin typeface="Book Antiqua" panose="02040602050305030304" pitchFamily="18" charset="0"/>
                      </a:endParaRPr>
                    </a:p>
                  </a:txBody>
                  <a:tcPr>
                    <a:solidFill>
                      <a:schemeClr val="bg1">
                        <a:lumMod val="85000"/>
                      </a:schemeClr>
                    </a:solidFill>
                  </a:tcPr>
                </a:tc>
                <a:extLst>
                  <a:ext uri="{0D108BD9-81ED-4DB2-BD59-A6C34878D82A}">
                    <a16:rowId xmlns:a16="http://schemas.microsoft.com/office/drawing/2014/main" val="41709668"/>
                  </a:ext>
                </a:extLst>
              </a:tr>
              <a:tr h="1784210">
                <a:tc>
                  <a:txBody>
                    <a:bodyPr/>
                    <a:lstStyle/>
                    <a:p>
                      <a:r>
                        <a:rPr lang="en-US" dirty="0">
                          <a:latin typeface="Book Antiqua" panose="02040602050305030304" pitchFamily="18" charset="0"/>
                        </a:rPr>
                        <a:t>1.</a:t>
                      </a:r>
                      <a:endParaRPr lang="en-IN" dirty="0">
                        <a:latin typeface="Book Antiqua" panose="02040602050305030304" pitchFamily="18" charset="0"/>
                      </a:endParaRPr>
                    </a:p>
                  </a:txBody>
                  <a:tcPr>
                    <a:solidFill>
                      <a:schemeClr val="bg1">
                        <a:lumMod val="8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“Automated Brain </a:t>
                      </a:r>
                      <a:r>
                        <a:rPr lang="en-IN" sz="2000" dirty="0" err="1">
                          <a:latin typeface="Times New Roman" panose="02020603050405020304" pitchFamily="18" charset="0"/>
                          <a:cs typeface="Times New Roman" panose="02020603050405020304" pitchFamily="18" charset="0"/>
                        </a:rPr>
                        <a:t>Tumor</a:t>
                      </a:r>
                      <a:r>
                        <a:rPr lang="en-IN" sz="2000" dirty="0">
                          <a:latin typeface="Times New Roman" panose="02020603050405020304" pitchFamily="18" charset="0"/>
                          <a:cs typeface="Times New Roman" panose="02020603050405020304" pitchFamily="18" charset="0"/>
                        </a:rPr>
                        <a:t> Segmentation Using Hybrid Image Processing Techniques” by B.S. Swathi and S.K. Somasundaram</a:t>
                      </a:r>
                      <a:endParaRPr lang="en-IN" sz="2000" b="0" dirty="0">
                        <a:latin typeface="Times New Roman" panose="02020603050405020304" pitchFamily="18" charset="0"/>
                        <a:cs typeface="Times New Roman" panose="02020603050405020304" pitchFamily="18" charset="0"/>
                      </a:endParaRPr>
                    </a:p>
                    <a:p>
                      <a:endParaRPr lang="en-IN" sz="2000" dirty="0">
                        <a:latin typeface="Book Antiqua" panose="02040602050305030304" pitchFamily="18" charset="0"/>
                      </a:endParaRPr>
                    </a:p>
                  </a:txBody>
                  <a:tcPr>
                    <a:solidFill>
                      <a:schemeClr val="bg1">
                        <a:lumMod val="85000"/>
                      </a:schemeClr>
                    </a:solidFill>
                  </a:tcPr>
                </a:tc>
                <a:tc>
                  <a:txBody>
                    <a:bodyPr/>
                    <a:lstStyle/>
                    <a:p>
                      <a:pPr marL="285750" indent="-285750">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Thresholding, conventional supervised and unsupervised based segmentation techniques are briefly described.</a:t>
                      </a:r>
                      <a:endParaRPr lang="en-IN" sz="2000" dirty="0">
                        <a:latin typeface="Times New Roman" panose="02020603050405020304" pitchFamily="18" charset="0"/>
                        <a:cs typeface="Times New Roman" panose="02020603050405020304" pitchFamily="18" charset="0"/>
                      </a:endParaRPr>
                    </a:p>
                  </a:txBody>
                  <a:tcPr>
                    <a:solidFill>
                      <a:schemeClr val="bg1">
                        <a:lumMod val="85000"/>
                      </a:schemeClr>
                    </a:solidFill>
                  </a:tcPr>
                </a:tc>
                <a:extLst>
                  <a:ext uri="{0D108BD9-81ED-4DB2-BD59-A6C34878D82A}">
                    <a16:rowId xmlns:a16="http://schemas.microsoft.com/office/drawing/2014/main" val="2507892198"/>
                  </a:ext>
                </a:extLst>
              </a:tr>
              <a:tr h="1798371">
                <a:tc>
                  <a:txBody>
                    <a:bodyPr/>
                    <a:lstStyle/>
                    <a:p>
                      <a:r>
                        <a:rPr lang="en-US" dirty="0">
                          <a:latin typeface="Book Antiqua" panose="02040602050305030304" pitchFamily="18" charset="0"/>
                        </a:rPr>
                        <a:t>2.</a:t>
                      </a:r>
                      <a:endParaRPr lang="en-IN" dirty="0">
                        <a:latin typeface="Book Antiqua" panose="02040602050305030304" pitchFamily="18" charset="0"/>
                      </a:endParaRPr>
                    </a:p>
                  </a:txBody>
                  <a:tcPr>
                    <a:solidFill>
                      <a:schemeClr val="bg1">
                        <a:lumMod val="8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"Automated Brain Tumor Segmentation Using Convolutional Neural Networks" by H. Chen, Q. Dou, L. Yu</a:t>
                      </a:r>
                    </a:p>
                    <a:p>
                      <a:endParaRPr lang="en-IN" sz="2100" dirty="0">
                        <a:latin typeface="Times New Roman" panose="02020603050405020304" pitchFamily="18" charset="0"/>
                        <a:cs typeface="Times New Roman" panose="02020603050405020304" pitchFamily="18" charset="0"/>
                      </a:endParaRPr>
                    </a:p>
                  </a:txBody>
                  <a:tcPr>
                    <a:solidFill>
                      <a:schemeClr val="bg1">
                        <a:lumMod val="85000"/>
                      </a:schemeClr>
                    </a:solidFill>
                  </a:tcPr>
                </a:tc>
                <a:tc>
                  <a:txBody>
                    <a:bodyPr/>
                    <a:lstStyle/>
                    <a:p>
                      <a:pPr marL="285750" indent="-285750">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Different brain </a:t>
                      </a:r>
                      <a:r>
                        <a:rPr lang="en-GB" sz="2000" dirty="0" err="1">
                          <a:latin typeface="Times New Roman" panose="02020603050405020304" pitchFamily="18" charset="0"/>
                          <a:cs typeface="Times New Roman" panose="02020603050405020304" pitchFamily="18" charset="0"/>
                        </a:rPr>
                        <a:t>tumor</a:t>
                      </a:r>
                      <a:r>
                        <a:rPr lang="en-GB" sz="2000" dirty="0">
                          <a:latin typeface="Times New Roman" panose="02020603050405020304" pitchFamily="18" charset="0"/>
                          <a:cs typeface="Times New Roman" panose="02020603050405020304" pitchFamily="18" charset="0"/>
                        </a:rPr>
                        <a:t> segmentation techniques that includes thresholding, region growing, atlas, deep learning, and conventional supervised and unsupervised machine learning based have been discussed. </a:t>
                      </a:r>
                      <a:endParaRPr lang="en-IN" sz="2000" dirty="0">
                        <a:latin typeface="Times New Roman" panose="02020603050405020304" pitchFamily="18" charset="0"/>
                        <a:cs typeface="Times New Roman" panose="02020603050405020304" pitchFamily="18" charset="0"/>
                      </a:endParaRPr>
                    </a:p>
                  </a:txBody>
                  <a:tcPr>
                    <a:solidFill>
                      <a:schemeClr val="bg1">
                        <a:lumMod val="85000"/>
                      </a:schemeClr>
                    </a:solidFill>
                  </a:tcPr>
                </a:tc>
                <a:extLst>
                  <a:ext uri="{0D108BD9-81ED-4DB2-BD59-A6C34878D82A}">
                    <a16:rowId xmlns:a16="http://schemas.microsoft.com/office/drawing/2014/main" val="3466606179"/>
                  </a:ext>
                </a:extLst>
              </a:tr>
              <a:tr h="1784210">
                <a:tc>
                  <a:txBody>
                    <a:bodyPr/>
                    <a:lstStyle/>
                    <a:p>
                      <a:r>
                        <a:rPr lang="en-US" dirty="0">
                          <a:latin typeface="Book Antiqua" panose="02040602050305030304" pitchFamily="18" charset="0"/>
                        </a:rPr>
                        <a:t>3.</a:t>
                      </a:r>
                      <a:endParaRPr lang="en-IN" dirty="0">
                        <a:latin typeface="Book Antiqua" panose="02040602050305030304" pitchFamily="18" charset="0"/>
                      </a:endParaRPr>
                    </a:p>
                  </a:txBody>
                  <a:tcPr>
                    <a:solidFill>
                      <a:schemeClr val="bg1">
                        <a:lumMod val="8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"Segmentation of Brain Tumors in MRI Images Using Fuzzy C-Means Clustering and Differential Evolution" by M.A. Siddiqui and M.A. Imran</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solidFill>
                      <a:schemeClr val="bg1">
                        <a:lumMod val="85000"/>
                      </a:schemeClr>
                    </a:solidFill>
                  </a:tcPr>
                </a:tc>
                <a:tc>
                  <a:txBody>
                    <a:bodyPr/>
                    <a:lstStyle/>
                    <a:p>
                      <a:pPr marL="285750" indent="-285750">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A detailed hierarchical classification of brain </a:t>
                      </a:r>
                      <a:r>
                        <a:rPr lang="en-GB" sz="2000" dirty="0" err="1">
                          <a:latin typeface="Times New Roman" panose="02020603050405020304" pitchFamily="18" charset="0"/>
                          <a:cs typeface="Times New Roman" panose="02020603050405020304" pitchFamily="18" charset="0"/>
                        </a:rPr>
                        <a:t>tumor</a:t>
                      </a:r>
                      <a:r>
                        <a:rPr lang="en-GB" sz="2000" dirty="0">
                          <a:latin typeface="Times New Roman" panose="02020603050405020304" pitchFamily="18" charset="0"/>
                          <a:cs typeface="Times New Roman" panose="02020603050405020304" pitchFamily="18" charset="0"/>
                        </a:rPr>
                        <a:t> presented. </a:t>
                      </a:r>
                    </a:p>
                    <a:p>
                      <a:pPr marL="285750" indent="-285750">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A brain </a:t>
                      </a:r>
                      <a:r>
                        <a:rPr lang="en-GB" sz="2000" dirty="0" err="1">
                          <a:latin typeface="Times New Roman" panose="02020603050405020304" pitchFamily="18" charset="0"/>
                          <a:cs typeface="Times New Roman" panose="02020603050405020304" pitchFamily="18" charset="0"/>
                        </a:rPr>
                        <a:t>tumor</a:t>
                      </a:r>
                      <a:r>
                        <a:rPr lang="en-GB" sz="2000" dirty="0">
                          <a:latin typeface="Times New Roman" panose="02020603050405020304" pitchFamily="18" charset="0"/>
                          <a:cs typeface="Times New Roman" panose="02020603050405020304" pitchFamily="18" charset="0"/>
                        </a:rPr>
                        <a:t> segmentation techniques, including: those based on thresholding, conventional supervised and unsupervised machine learning, and deep learning are discussed.</a:t>
                      </a:r>
                    </a:p>
                  </a:txBody>
                  <a:tcPr>
                    <a:solidFill>
                      <a:schemeClr val="bg1">
                        <a:lumMod val="85000"/>
                      </a:schemeClr>
                    </a:solidFill>
                  </a:tcPr>
                </a:tc>
                <a:extLst>
                  <a:ext uri="{0D108BD9-81ED-4DB2-BD59-A6C34878D82A}">
                    <a16:rowId xmlns:a16="http://schemas.microsoft.com/office/drawing/2014/main" val="148188873"/>
                  </a:ext>
                </a:extLst>
              </a:tr>
            </a:tbl>
          </a:graphicData>
        </a:graphic>
      </p:graphicFrame>
      <p:sp>
        <p:nvSpPr>
          <p:cNvPr id="6" name="Rectangle 5">
            <a:extLst>
              <a:ext uri="{FF2B5EF4-FFF2-40B4-BE49-F238E27FC236}">
                <a16:creationId xmlns:a16="http://schemas.microsoft.com/office/drawing/2014/main" id="{6C209567-38CE-448E-9188-C4CEEC605545}"/>
              </a:ext>
            </a:extLst>
          </p:cNvPr>
          <p:cNvSpPr/>
          <p:nvPr/>
        </p:nvSpPr>
        <p:spPr>
          <a:xfrm>
            <a:off x="260752" y="15130"/>
            <a:ext cx="3752983" cy="461665"/>
          </a:xfrm>
          <a:prstGeom prst="rect">
            <a:avLst/>
          </a:prstGeom>
        </p:spPr>
        <p:txBody>
          <a:bodyPr wrap="square">
            <a:spAutoFit/>
          </a:bodyPr>
          <a:lstStyle/>
          <a:p>
            <a:r>
              <a:rPr lang="en-US" sz="2400" b="1" dirty="0">
                <a:solidFill>
                  <a:srgbClr val="71309E"/>
                </a:solidFill>
                <a:latin typeface="Times New Roman" panose="02020603050405020304" pitchFamily="18" charset="0"/>
              </a:rPr>
              <a:t>3. Literature Survey</a:t>
            </a:r>
            <a:endParaRPr lang="en-IN" sz="2400" dirty="0"/>
          </a:p>
        </p:txBody>
      </p:sp>
    </p:spTree>
    <p:extLst>
      <p:ext uri="{BB962C8B-B14F-4D97-AF65-F5344CB8AC3E}">
        <p14:creationId xmlns:p14="http://schemas.microsoft.com/office/powerpoint/2010/main" val="1330000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00F80A9-C374-B5D2-6CA5-712D3E7400BC}"/>
              </a:ext>
            </a:extLst>
          </p:cNvPr>
          <p:cNvGraphicFramePr>
            <a:graphicFrameLocks noGrp="1"/>
          </p:cNvGraphicFramePr>
          <p:nvPr>
            <p:extLst>
              <p:ext uri="{D42A27DB-BD31-4B8C-83A1-F6EECF244321}">
                <p14:modId xmlns:p14="http://schemas.microsoft.com/office/powerpoint/2010/main" val="2003644984"/>
              </p:ext>
            </p:extLst>
          </p:nvPr>
        </p:nvGraphicFramePr>
        <p:xfrm>
          <a:off x="296613" y="60960"/>
          <a:ext cx="11221093" cy="6567808"/>
        </p:xfrm>
        <a:graphic>
          <a:graphicData uri="http://schemas.openxmlformats.org/drawingml/2006/table">
            <a:tbl>
              <a:tblPr firstRow="1" bandRow="1">
                <a:tableStyleId>{5C22544A-7EE6-4342-B048-85BDC9FD1C3A}</a:tableStyleId>
              </a:tblPr>
              <a:tblGrid>
                <a:gridCol w="501247">
                  <a:extLst>
                    <a:ext uri="{9D8B030D-6E8A-4147-A177-3AD203B41FA5}">
                      <a16:colId xmlns:a16="http://schemas.microsoft.com/office/drawing/2014/main" val="346685206"/>
                    </a:ext>
                  </a:extLst>
                </a:gridCol>
                <a:gridCol w="3550022">
                  <a:extLst>
                    <a:ext uri="{9D8B030D-6E8A-4147-A177-3AD203B41FA5}">
                      <a16:colId xmlns:a16="http://schemas.microsoft.com/office/drawing/2014/main" val="1664529305"/>
                    </a:ext>
                  </a:extLst>
                </a:gridCol>
                <a:gridCol w="7169824">
                  <a:extLst>
                    <a:ext uri="{9D8B030D-6E8A-4147-A177-3AD203B41FA5}">
                      <a16:colId xmlns:a16="http://schemas.microsoft.com/office/drawing/2014/main" val="680938966"/>
                    </a:ext>
                  </a:extLst>
                </a:gridCol>
              </a:tblGrid>
              <a:tr h="726596">
                <a:tc>
                  <a:txBody>
                    <a:bodyPr/>
                    <a:lstStyle/>
                    <a:p>
                      <a:r>
                        <a:rPr lang="en-US" sz="1800" dirty="0">
                          <a:solidFill>
                            <a:schemeClr val="tx1">
                              <a:lumMod val="95000"/>
                              <a:lumOff val="5000"/>
                            </a:schemeClr>
                          </a:solidFill>
                          <a:latin typeface="Book Antiqua" panose="02040602050305030304" pitchFamily="18" charset="0"/>
                        </a:rPr>
                        <a:t>SL NO</a:t>
                      </a:r>
                    </a:p>
                  </a:txBody>
                  <a:tcPr>
                    <a:solidFill>
                      <a:schemeClr val="bg1">
                        <a:lumMod val="85000"/>
                      </a:schemeClr>
                    </a:solidFill>
                  </a:tcPr>
                </a:tc>
                <a:tc>
                  <a:txBody>
                    <a:bodyPr/>
                    <a:lstStyle/>
                    <a:p>
                      <a:r>
                        <a:rPr lang="en-US" sz="2400" dirty="0">
                          <a:solidFill>
                            <a:schemeClr val="tx1">
                              <a:lumMod val="95000"/>
                              <a:lumOff val="5000"/>
                            </a:schemeClr>
                          </a:solidFill>
                          <a:latin typeface="Book Antiqua" panose="02040602050305030304" pitchFamily="18" charset="0"/>
                        </a:rPr>
                        <a:t>TITLE</a:t>
                      </a:r>
                      <a:endParaRPr lang="en-IN" sz="2400" dirty="0">
                        <a:solidFill>
                          <a:schemeClr val="tx1">
                            <a:lumMod val="95000"/>
                            <a:lumOff val="5000"/>
                          </a:schemeClr>
                        </a:solidFill>
                        <a:latin typeface="Book Antiqua" panose="02040602050305030304" pitchFamily="18" charset="0"/>
                      </a:endParaRPr>
                    </a:p>
                  </a:txBody>
                  <a:tcPr>
                    <a:solidFill>
                      <a:schemeClr val="bg1">
                        <a:lumMod val="85000"/>
                      </a:schemeClr>
                    </a:solidFill>
                  </a:tcPr>
                </a:tc>
                <a:tc>
                  <a:txBody>
                    <a:bodyPr/>
                    <a:lstStyle/>
                    <a:p>
                      <a:r>
                        <a:rPr lang="en-US" sz="2400" dirty="0">
                          <a:solidFill>
                            <a:schemeClr val="tx1">
                              <a:lumMod val="95000"/>
                              <a:lumOff val="5000"/>
                            </a:schemeClr>
                          </a:solidFill>
                          <a:latin typeface="Book Antiqua" panose="02040602050305030304" pitchFamily="18" charset="0"/>
                        </a:rPr>
                        <a:t>INFERENCE</a:t>
                      </a:r>
                      <a:endParaRPr lang="en-IN" sz="2400" dirty="0">
                        <a:solidFill>
                          <a:schemeClr val="tx1">
                            <a:lumMod val="95000"/>
                            <a:lumOff val="5000"/>
                          </a:schemeClr>
                        </a:solidFill>
                        <a:latin typeface="Book Antiqua" panose="02040602050305030304" pitchFamily="18" charset="0"/>
                      </a:endParaRPr>
                    </a:p>
                  </a:txBody>
                  <a:tcPr>
                    <a:solidFill>
                      <a:schemeClr val="bg1">
                        <a:lumMod val="85000"/>
                      </a:schemeClr>
                    </a:solidFill>
                  </a:tcPr>
                </a:tc>
                <a:extLst>
                  <a:ext uri="{0D108BD9-81ED-4DB2-BD59-A6C34878D82A}">
                    <a16:rowId xmlns:a16="http://schemas.microsoft.com/office/drawing/2014/main" val="41709668"/>
                  </a:ext>
                </a:extLst>
              </a:tr>
              <a:tr h="1141165">
                <a:tc>
                  <a:txBody>
                    <a:bodyPr/>
                    <a:lstStyle/>
                    <a:p>
                      <a:r>
                        <a:rPr lang="en-US" dirty="0">
                          <a:latin typeface="Book Antiqua" panose="02040602050305030304" pitchFamily="18" charset="0"/>
                        </a:rPr>
                        <a:t>1.</a:t>
                      </a:r>
                      <a:endParaRPr lang="en-IN" dirty="0">
                        <a:latin typeface="Book Antiqua" panose="02040602050305030304" pitchFamily="18" charset="0"/>
                      </a:endParaRPr>
                    </a:p>
                  </a:txBody>
                  <a:tcPr>
                    <a:solidFill>
                      <a:schemeClr val="bg1">
                        <a:lumMod val="8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"A Comparative Study of Image Segmentation Algorithms for Brain Tumor Detection" by H.A. </a:t>
                      </a:r>
                      <a:r>
                        <a:rPr lang="en-US" sz="1800" b="0" dirty="0" err="1">
                          <a:latin typeface="Times New Roman" panose="02020603050405020304" pitchFamily="18" charset="0"/>
                          <a:cs typeface="Times New Roman" panose="02020603050405020304" pitchFamily="18" charset="0"/>
                        </a:rPr>
                        <a:t>Jalab</a:t>
                      </a:r>
                      <a:r>
                        <a:rPr lang="en-US" sz="1800" b="0" dirty="0">
                          <a:latin typeface="Times New Roman" panose="02020603050405020304" pitchFamily="18" charset="0"/>
                          <a:cs typeface="Times New Roman" panose="02020603050405020304" pitchFamily="18" charset="0"/>
                        </a:rPr>
                        <a:t>, A.H. Hassan, and K.S. Kareem</a:t>
                      </a:r>
                      <a:endParaRPr lang="en-IN" sz="1800" b="0" dirty="0">
                        <a:latin typeface="Times New Roman" panose="02020603050405020304" pitchFamily="18" charset="0"/>
                        <a:cs typeface="Times New Roman" panose="02020603050405020304" pitchFamily="18" charset="0"/>
                      </a:endParaRPr>
                    </a:p>
                    <a:p>
                      <a:endParaRPr lang="en-IN" sz="2100" dirty="0">
                        <a:latin typeface="Book Antiqua" panose="02040602050305030304" pitchFamily="18" charset="0"/>
                      </a:endParaRPr>
                    </a:p>
                  </a:txBody>
                  <a:tcPr>
                    <a:solidFill>
                      <a:schemeClr val="bg1">
                        <a:lumMod val="85000"/>
                      </a:schemeClr>
                    </a:solidFill>
                  </a:tcPr>
                </a:tc>
                <a:tc>
                  <a:txBody>
                    <a:bodyPr/>
                    <a:lstStyle/>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This paper presents a comparative study of various image segmentation algorithms for brain tumor detection, including region growing, thresholding, watershed transform, and active contour models. The study found that the active contour model achieved the highest accuracy in segmenting brain tumors.</a:t>
                      </a:r>
                      <a:endParaRPr lang="en-IN" sz="2000" dirty="0">
                        <a:latin typeface="Times New Roman" panose="02020603050405020304" pitchFamily="18" charset="0"/>
                        <a:cs typeface="Times New Roman" panose="02020603050405020304" pitchFamily="18" charset="0"/>
                      </a:endParaRPr>
                    </a:p>
                  </a:txBody>
                  <a:tcPr>
                    <a:solidFill>
                      <a:schemeClr val="bg1">
                        <a:lumMod val="85000"/>
                      </a:schemeClr>
                    </a:solidFill>
                  </a:tcPr>
                </a:tc>
                <a:extLst>
                  <a:ext uri="{0D108BD9-81ED-4DB2-BD59-A6C34878D82A}">
                    <a16:rowId xmlns:a16="http://schemas.microsoft.com/office/drawing/2014/main" val="2507892198"/>
                  </a:ext>
                </a:extLst>
              </a:tr>
              <a:tr h="1843420">
                <a:tc>
                  <a:txBody>
                    <a:bodyPr/>
                    <a:lstStyle/>
                    <a:p>
                      <a:r>
                        <a:rPr lang="en-US" dirty="0">
                          <a:latin typeface="Book Antiqua" panose="02040602050305030304" pitchFamily="18" charset="0"/>
                        </a:rPr>
                        <a:t>2.</a:t>
                      </a:r>
                      <a:endParaRPr lang="en-IN" dirty="0">
                        <a:latin typeface="Book Antiqua" panose="02040602050305030304" pitchFamily="18" charset="0"/>
                      </a:endParaRPr>
                    </a:p>
                  </a:txBody>
                  <a:tcPr>
                    <a:solidFill>
                      <a:schemeClr val="bg1">
                        <a:lumMod val="85000"/>
                      </a:schemeClr>
                    </a:solidFill>
                  </a:tcPr>
                </a:tc>
                <a:tc>
                  <a:txBody>
                    <a:bodyPr/>
                    <a:lstStyle/>
                    <a:p>
                      <a:r>
                        <a:rPr lang="en-US" sz="2000" dirty="0">
                          <a:latin typeface="Times New Roman" panose="02020603050405020304" pitchFamily="18" charset="0"/>
                          <a:cs typeface="Times New Roman" panose="02020603050405020304" pitchFamily="18" charset="0"/>
                        </a:rPr>
                        <a:t>"Brain Tumor Segmentation Using Adaptive Thresholding and Morphological Operations" by S. Sujatha and S. </a:t>
                      </a:r>
                      <a:r>
                        <a:rPr lang="en-US" sz="2000" dirty="0" err="1">
                          <a:latin typeface="Times New Roman" panose="02020603050405020304" pitchFamily="18" charset="0"/>
                          <a:cs typeface="Times New Roman" panose="02020603050405020304" pitchFamily="18" charset="0"/>
                        </a:rPr>
                        <a:t>Karpagavalli</a:t>
                      </a:r>
                      <a:endParaRPr lang="en-IN" sz="2000" dirty="0">
                        <a:latin typeface="Times New Roman" panose="02020603050405020304" pitchFamily="18" charset="0"/>
                        <a:cs typeface="Times New Roman" panose="02020603050405020304" pitchFamily="18" charset="0"/>
                      </a:endParaRPr>
                    </a:p>
                  </a:txBody>
                  <a:tcPr>
                    <a:solidFill>
                      <a:schemeClr val="bg1">
                        <a:lumMod val="85000"/>
                      </a:schemeClr>
                    </a:solidFill>
                  </a:tcPr>
                </a:tc>
                <a:tc>
                  <a:txBody>
                    <a:bodyPr/>
                    <a:lstStyle/>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This paper proposes a method for brain tumor segmentation that uses adaptive thresholding and morphological operations. The proposed method achieved high accuracy in segmenting both low-grade and high-grade brain tumors.</a:t>
                      </a:r>
                      <a:r>
                        <a:rPr lang="en-GB"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txBody>
                  <a:tcPr>
                    <a:solidFill>
                      <a:schemeClr val="bg1">
                        <a:lumMod val="85000"/>
                      </a:schemeClr>
                    </a:solidFill>
                  </a:tcPr>
                </a:tc>
                <a:extLst>
                  <a:ext uri="{0D108BD9-81ED-4DB2-BD59-A6C34878D82A}">
                    <a16:rowId xmlns:a16="http://schemas.microsoft.com/office/drawing/2014/main" val="3466606179"/>
                  </a:ext>
                </a:extLst>
              </a:tr>
              <a:tr h="2194548">
                <a:tc>
                  <a:txBody>
                    <a:bodyPr/>
                    <a:lstStyle/>
                    <a:p>
                      <a:endParaRPr lang="en-IN" dirty="0">
                        <a:latin typeface="Book Antiqua" panose="02040602050305030304" pitchFamily="18" charset="0"/>
                      </a:endParaRPr>
                    </a:p>
                  </a:txBody>
                  <a:tcPr>
                    <a:solidFill>
                      <a:schemeClr val="bg1">
                        <a:lumMod val="85000"/>
                      </a:schemeClr>
                    </a:solidFill>
                  </a:tcPr>
                </a:tc>
                <a:tc>
                  <a:txBody>
                    <a:bodyPr/>
                    <a:lstStyle/>
                    <a:p>
                      <a:endParaRPr lang="en-IN" sz="2100" dirty="0">
                        <a:latin typeface="Times New Roman" panose="02020603050405020304" pitchFamily="18" charset="0"/>
                        <a:cs typeface="Times New Roman" panose="02020603050405020304" pitchFamily="18" charset="0"/>
                      </a:endParaRPr>
                    </a:p>
                  </a:txBody>
                  <a:tcPr>
                    <a:solidFill>
                      <a:schemeClr val="bg1">
                        <a:lumMod val="85000"/>
                      </a:schemeClr>
                    </a:solidFill>
                  </a:tcPr>
                </a:tc>
                <a:tc>
                  <a:txBody>
                    <a:bodyPr/>
                    <a:lstStyle/>
                    <a:p>
                      <a:pPr marL="0" indent="0">
                        <a:buFont typeface="Wingdings" panose="05000000000000000000" pitchFamily="2" charset="2"/>
                        <a:buNone/>
                      </a:pPr>
                      <a:endParaRPr lang="en-GB" sz="2400" dirty="0">
                        <a:latin typeface="Times New Roman" panose="02020603050405020304" pitchFamily="18" charset="0"/>
                        <a:cs typeface="Times New Roman" panose="02020603050405020304" pitchFamily="18" charset="0"/>
                      </a:endParaRPr>
                    </a:p>
                  </a:txBody>
                  <a:tcPr>
                    <a:solidFill>
                      <a:schemeClr val="bg1">
                        <a:lumMod val="85000"/>
                      </a:schemeClr>
                    </a:solidFill>
                  </a:tcPr>
                </a:tc>
                <a:extLst>
                  <a:ext uri="{0D108BD9-81ED-4DB2-BD59-A6C34878D82A}">
                    <a16:rowId xmlns:a16="http://schemas.microsoft.com/office/drawing/2014/main" val="148188873"/>
                  </a:ext>
                </a:extLst>
              </a:tr>
            </a:tbl>
          </a:graphicData>
        </a:graphic>
      </p:graphicFrame>
    </p:spTree>
    <p:extLst>
      <p:ext uri="{BB962C8B-B14F-4D97-AF65-F5344CB8AC3E}">
        <p14:creationId xmlns:p14="http://schemas.microsoft.com/office/powerpoint/2010/main" val="3085885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20165-5B75-400B-8048-CF486C740FE8}"/>
              </a:ext>
            </a:extLst>
          </p:cNvPr>
          <p:cNvSpPr>
            <a:spLocks noGrp="1"/>
          </p:cNvSpPr>
          <p:nvPr>
            <p:ph type="title"/>
          </p:nvPr>
        </p:nvSpPr>
        <p:spPr/>
        <p:txBody>
          <a:bodyPr>
            <a:normAutofit/>
          </a:bodyPr>
          <a:lstStyle/>
          <a:p>
            <a:r>
              <a:rPr lang="en-US" altLang="en-US" sz="2000" b="1" dirty="0">
                <a:solidFill>
                  <a:srgbClr val="71309E"/>
                </a:solidFill>
                <a:latin typeface="Times New Roman" panose="02020603050405020304" pitchFamily="18" charset="0"/>
              </a:rPr>
              <a:t>4. METHODOLOGY</a:t>
            </a:r>
            <a:endParaRPr lang="en-IN" sz="2000" dirty="0"/>
          </a:p>
        </p:txBody>
      </p:sp>
      <p:sp>
        <p:nvSpPr>
          <p:cNvPr id="3" name="Content Placeholder 2">
            <a:extLst>
              <a:ext uri="{FF2B5EF4-FFF2-40B4-BE49-F238E27FC236}">
                <a16:creationId xmlns:a16="http://schemas.microsoft.com/office/drawing/2014/main" id="{1F9A7CFE-A18C-4935-98E0-263F1AD83389}"/>
              </a:ext>
            </a:extLst>
          </p:cNvPr>
          <p:cNvSpPr>
            <a:spLocks noGrp="1"/>
          </p:cNvSpPr>
          <p:nvPr>
            <p:ph idx="1"/>
          </p:nvPr>
        </p:nvSpPr>
        <p:spPr>
          <a:xfrm>
            <a:off x="677334" y="1046828"/>
            <a:ext cx="8596668" cy="3880773"/>
          </a:xfrm>
        </p:spPr>
        <p:txBody>
          <a:bodyPr>
            <a:noAutofit/>
          </a:bodyPr>
          <a:lstStyle/>
          <a:p>
            <a:pPr marL="0" indent="0">
              <a:buNone/>
            </a:pPr>
            <a:r>
              <a:rPr lang="en-GB" sz="2000" dirty="0"/>
              <a:t>The algorithm has two stages, first is pre-processing of given MRI image and after that segmentation and then perform morphological operations. Steps of algorithm are as following:- </a:t>
            </a:r>
          </a:p>
          <a:p>
            <a:pPr>
              <a:buAutoNum type="arabicParenR"/>
            </a:pPr>
            <a:r>
              <a:rPr lang="en-GB" sz="2000" dirty="0"/>
              <a:t>Give MRI image of brain as input.</a:t>
            </a:r>
          </a:p>
          <a:p>
            <a:pPr>
              <a:buAutoNum type="arabicParenR"/>
            </a:pPr>
            <a:r>
              <a:rPr lang="en-GB" sz="2000" dirty="0"/>
              <a:t>Convert it to </a:t>
            </a:r>
            <a:r>
              <a:rPr lang="en-GB" sz="2000" dirty="0" err="1"/>
              <a:t>gray</a:t>
            </a:r>
            <a:r>
              <a:rPr lang="en-GB" sz="2000" dirty="0"/>
              <a:t> scale image. </a:t>
            </a:r>
          </a:p>
          <a:p>
            <a:pPr>
              <a:buAutoNum type="arabicParenR"/>
            </a:pPr>
            <a:r>
              <a:rPr lang="en-GB" sz="2000" dirty="0"/>
              <a:t>Apply high pass filter for noise removal.</a:t>
            </a:r>
          </a:p>
          <a:p>
            <a:pPr>
              <a:buAutoNum type="arabicParenR"/>
            </a:pPr>
            <a:r>
              <a:rPr lang="en-GB" sz="2000" dirty="0"/>
              <a:t>Apply anisotropic filter to enhance the quality of image. </a:t>
            </a:r>
          </a:p>
          <a:p>
            <a:pPr>
              <a:buAutoNum type="arabicParenR"/>
            </a:pPr>
            <a:r>
              <a:rPr lang="en-GB" sz="2000" dirty="0"/>
              <a:t>Compute threshold segmentation.  </a:t>
            </a:r>
          </a:p>
          <a:p>
            <a:pPr>
              <a:buAutoNum type="arabicParenR"/>
            </a:pPr>
            <a:r>
              <a:rPr lang="en-GB" sz="2000" dirty="0"/>
              <a:t>Compute morphological operation. </a:t>
            </a:r>
          </a:p>
          <a:p>
            <a:pPr>
              <a:buAutoNum type="arabicParenR"/>
            </a:pPr>
            <a:r>
              <a:rPr lang="en-GB" sz="2000" dirty="0"/>
              <a:t>Finally output will be a tumour region.</a:t>
            </a:r>
          </a:p>
          <a:p>
            <a:pPr marL="0" indent="0">
              <a:buNone/>
            </a:pPr>
            <a:r>
              <a:rPr lang="en-GB" sz="2000" dirty="0"/>
              <a:t> </a:t>
            </a:r>
            <a:endParaRPr lang="en-IN" sz="2000" dirty="0"/>
          </a:p>
        </p:txBody>
      </p:sp>
    </p:spTree>
    <p:extLst>
      <p:ext uri="{BB962C8B-B14F-4D97-AF65-F5344CB8AC3E}">
        <p14:creationId xmlns:p14="http://schemas.microsoft.com/office/powerpoint/2010/main" val="2818262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BC6FB-3DBD-4793-B3E8-803BF4834C2A}"/>
              </a:ext>
            </a:extLst>
          </p:cNvPr>
          <p:cNvSpPr>
            <a:spLocks noGrp="1"/>
          </p:cNvSpPr>
          <p:nvPr>
            <p:ph type="title"/>
          </p:nvPr>
        </p:nvSpPr>
        <p:spPr>
          <a:xfrm>
            <a:off x="677334" y="251382"/>
            <a:ext cx="8596668" cy="1320800"/>
          </a:xfrm>
        </p:spPr>
        <p:txBody>
          <a:bodyPr>
            <a:normAutofit/>
          </a:bodyPr>
          <a:lstStyle/>
          <a:p>
            <a:r>
              <a:rPr lang="en-US" altLang="en-US" sz="2000" b="1" dirty="0">
                <a:solidFill>
                  <a:srgbClr val="71309E"/>
                </a:solidFill>
                <a:latin typeface="Times New Roman" panose="02020603050405020304" pitchFamily="18" charset="0"/>
              </a:rPr>
              <a:t>5.SOFTWARE REQUIREMENTS.</a:t>
            </a:r>
            <a:br>
              <a:rPr lang="en-US" altLang="en-US" sz="2000" b="1" dirty="0">
                <a:solidFill>
                  <a:srgbClr val="71309E"/>
                </a:solidFill>
                <a:latin typeface="Times New Roman" panose="02020603050405020304" pitchFamily="18" charset="0"/>
              </a:rPr>
            </a:br>
            <a:r>
              <a:rPr lang="en-US" altLang="en-US" sz="2000" b="1" dirty="0">
                <a:solidFill>
                  <a:srgbClr val="71309E"/>
                </a:solidFill>
                <a:latin typeface="Times New Roman" panose="02020603050405020304" pitchFamily="18" charset="0"/>
              </a:rPr>
              <a:t>  </a:t>
            </a:r>
            <a:r>
              <a:rPr lang="en-US" altLang="en-US" sz="2200" b="1" dirty="0">
                <a:solidFill>
                  <a:srgbClr val="292727"/>
                </a:solidFill>
                <a:latin typeface="Times New Roman" panose="02020603050405020304" pitchFamily="18" charset="0"/>
              </a:rPr>
              <a:t>• </a:t>
            </a:r>
            <a:r>
              <a:rPr lang="en-US" altLang="en-US" sz="2200" dirty="0">
                <a:solidFill>
                  <a:srgbClr val="292727"/>
                </a:solidFill>
                <a:latin typeface="Times New Roman" panose="02020603050405020304" pitchFamily="18" charset="0"/>
              </a:rPr>
              <a:t>MATLAB</a:t>
            </a:r>
            <a:br>
              <a:rPr lang="en-US" altLang="en-US" b="1" dirty="0">
                <a:solidFill>
                  <a:srgbClr val="292727"/>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B0E64CE-23C1-4B13-AA5B-86BDB3751678}"/>
              </a:ext>
            </a:extLst>
          </p:cNvPr>
          <p:cNvSpPr>
            <a:spLocks noGrp="1"/>
          </p:cNvSpPr>
          <p:nvPr>
            <p:ph idx="1"/>
          </p:nvPr>
        </p:nvSpPr>
        <p:spPr>
          <a:xfrm>
            <a:off x="677334" y="1572182"/>
            <a:ext cx="8596668" cy="3880773"/>
          </a:xfrm>
        </p:spPr>
        <p:txBody>
          <a:bodyPr>
            <a:normAutofit fontScale="25000" lnSpcReduction="20000"/>
          </a:bodyPr>
          <a:lstStyle/>
          <a:p>
            <a:pPr marL="0" indent="0">
              <a:lnSpc>
                <a:spcPct val="120000"/>
              </a:lnSpc>
              <a:buNone/>
            </a:pPr>
            <a:r>
              <a:rPr lang="en-US" altLang="en-US" sz="8000" b="1" dirty="0">
                <a:solidFill>
                  <a:srgbClr val="71309E"/>
                </a:solidFill>
                <a:latin typeface="Times New Roman" panose="02020603050405020304" pitchFamily="18" charset="0"/>
              </a:rPr>
              <a:t>6.APPLICATIONS , ADVANTAGES AND DISADVANTAGES</a:t>
            </a:r>
            <a:endParaRPr lang="en-US" altLang="en-US" sz="8000" b="1" dirty="0">
              <a:latin typeface="Times New Roman" panose="02020603050405020304" pitchFamily="18" charset="0"/>
            </a:endParaRPr>
          </a:p>
          <a:p>
            <a:pPr algn="just">
              <a:lnSpc>
                <a:spcPct val="120000"/>
              </a:lnSpc>
              <a:spcAft>
                <a:spcPts val="1263"/>
              </a:spcAft>
            </a:pPr>
            <a:r>
              <a:rPr lang="en-US" altLang="en-US" sz="8000" dirty="0">
                <a:latin typeface="Times New Roman" panose="02020603050405020304" pitchFamily="18" charset="0"/>
              </a:rPr>
              <a:t>1. This method can be used for the fast detection of the lung cancer so that the proper care can be given to the patient.</a:t>
            </a:r>
          </a:p>
          <a:p>
            <a:pPr algn="just">
              <a:lnSpc>
                <a:spcPct val="120000"/>
              </a:lnSpc>
              <a:spcAft>
                <a:spcPts val="1263"/>
              </a:spcAft>
            </a:pPr>
            <a:r>
              <a:rPr lang="en-US" altLang="en-US" sz="8000" dirty="0">
                <a:latin typeface="Times New Roman" panose="02020603050405020304" pitchFamily="18" charset="0"/>
              </a:rPr>
              <a:t>2. This similar method can also be used for the detection of the breast cancer with little modification in the threshold value and the change in the pattern reorganization.</a:t>
            </a:r>
          </a:p>
          <a:p>
            <a:pPr algn="just">
              <a:lnSpc>
                <a:spcPct val="120000"/>
              </a:lnSpc>
              <a:spcAft>
                <a:spcPts val="1263"/>
              </a:spcAft>
            </a:pPr>
            <a:r>
              <a:rPr lang="en-US" altLang="en-US" sz="8000" dirty="0">
                <a:latin typeface="Times New Roman" panose="02020603050405020304" pitchFamily="18" charset="0"/>
              </a:rPr>
              <a:t>3. With particular pattern involved with the threshold value this system can be easily be used for other early cancer and tumor detection.</a:t>
            </a:r>
          </a:p>
          <a:p>
            <a:pPr algn="just">
              <a:lnSpc>
                <a:spcPct val="120000"/>
              </a:lnSpc>
            </a:pPr>
            <a:r>
              <a:rPr lang="en-US" altLang="en-US" sz="8000" dirty="0">
                <a:latin typeface="Times New Roman" panose="02020603050405020304" pitchFamily="18" charset="0"/>
              </a:rPr>
              <a:t>4. It can be used in the detection of the other diseases which are not cancer efficiently like the Lung virus and the other bacterial infection in lung if proper threshold value is given.</a:t>
            </a:r>
          </a:p>
          <a:p>
            <a:pPr marL="0" indent="0">
              <a:buNone/>
            </a:pPr>
            <a:endParaRPr lang="en-US" altLang="en-US" b="1" dirty="0">
              <a:solidFill>
                <a:srgbClr val="71309E"/>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1180108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70AC0B-9546-4912-A355-EADCDD48FFA0}"/>
              </a:ext>
            </a:extLst>
          </p:cNvPr>
          <p:cNvSpPr>
            <a:spLocks noGrp="1"/>
          </p:cNvSpPr>
          <p:nvPr>
            <p:ph idx="1"/>
          </p:nvPr>
        </p:nvSpPr>
        <p:spPr>
          <a:xfrm>
            <a:off x="620773" y="312935"/>
            <a:ext cx="8596668" cy="4909514"/>
          </a:xfrm>
        </p:spPr>
        <p:txBody>
          <a:bodyPr>
            <a:normAutofit/>
          </a:bodyPr>
          <a:lstStyle/>
          <a:p>
            <a:pPr marL="0" indent="0">
              <a:buNone/>
            </a:pPr>
            <a:r>
              <a:rPr lang="en-US" altLang="en-US" sz="2000" b="1" dirty="0">
                <a:latin typeface="Times New Roman" panose="02020603050405020304" pitchFamily="18" charset="0"/>
              </a:rPr>
              <a:t>Advantages</a:t>
            </a:r>
          </a:p>
          <a:p>
            <a:pPr>
              <a:lnSpc>
                <a:spcPts val="1920"/>
              </a:lnSpc>
              <a:spcBef>
                <a:spcPts val="3150"/>
              </a:spcBef>
              <a:spcAft>
                <a:spcPts val="1260"/>
              </a:spcAft>
              <a:defRPr/>
            </a:pPr>
            <a:r>
              <a:rPr lang="en-US" dirty="0">
                <a:latin typeface="Times New Roman"/>
              </a:rPr>
              <a:t>1. Early detection of the brain </a:t>
            </a:r>
            <a:r>
              <a:rPr lang="en-US" dirty="0" err="1">
                <a:latin typeface="Times New Roman"/>
              </a:rPr>
              <a:t>tumour</a:t>
            </a:r>
            <a:r>
              <a:rPr lang="en-US" dirty="0">
                <a:latin typeface="Times New Roman"/>
              </a:rPr>
              <a:t> which help the patient to start the early treatment of the </a:t>
            </a:r>
            <a:r>
              <a:rPr lang="en-US" dirty="0" err="1">
                <a:latin typeface="Times New Roman"/>
              </a:rPr>
              <a:t>tumour</a:t>
            </a:r>
            <a:r>
              <a:rPr lang="en-US" dirty="0">
                <a:latin typeface="Times New Roman"/>
              </a:rPr>
              <a:t> and will drastically improve the chance of the survival.</a:t>
            </a:r>
          </a:p>
          <a:p>
            <a:pPr>
              <a:lnSpc>
                <a:spcPts val="1920"/>
              </a:lnSpc>
              <a:spcBef>
                <a:spcPts val="0"/>
              </a:spcBef>
              <a:spcAft>
                <a:spcPts val="1260"/>
              </a:spcAft>
              <a:defRPr/>
            </a:pPr>
            <a:r>
              <a:rPr lang="en-US" dirty="0">
                <a:latin typeface="Times New Roman"/>
              </a:rPr>
              <a:t>2. This method of detection is far more easier and convenient then the other traditional way of detection.</a:t>
            </a:r>
          </a:p>
          <a:p>
            <a:pPr>
              <a:lnSpc>
                <a:spcPts val="1920"/>
              </a:lnSpc>
              <a:spcBef>
                <a:spcPts val="0"/>
              </a:spcBef>
              <a:spcAft>
                <a:spcPts val="1260"/>
              </a:spcAft>
              <a:defRPr/>
            </a:pPr>
            <a:r>
              <a:rPr lang="en-US" dirty="0">
                <a:latin typeface="Times New Roman"/>
              </a:rPr>
              <a:t>3. This system is more effective with above 80% accuracy and gives the best result most of the time.</a:t>
            </a:r>
          </a:p>
          <a:p>
            <a:pPr>
              <a:lnSpc>
                <a:spcPts val="1920"/>
              </a:lnSpc>
              <a:spcBef>
                <a:spcPts val="0"/>
              </a:spcBef>
              <a:spcAft>
                <a:spcPts val="1260"/>
              </a:spcAft>
              <a:defRPr/>
            </a:pPr>
            <a:r>
              <a:rPr lang="en-US" dirty="0">
                <a:latin typeface="Times New Roman"/>
              </a:rPr>
              <a:t>4. Easy to use system and can be used by any laymen who does not have any information about the brain </a:t>
            </a:r>
            <a:r>
              <a:rPr lang="en-US" dirty="0" err="1">
                <a:latin typeface="Times New Roman"/>
              </a:rPr>
              <a:t>tumour</a:t>
            </a:r>
            <a:r>
              <a:rPr lang="en-US" dirty="0">
                <a:latin typeface="Times New Roman"/>
              </a:rPr>
              <a:t>.</a:t>
            </a:r>
          </a:p>
          <a:p>
            <a:pPr algn="just">
              <a:spcBef>
                <a:spcPts val="0"/>
              </a:spcBef>
              <a:spcAft>
                <a:spcPts val="2100"/>
              </a:spcAft>
              <a:defRPr/>
            </a:pPr>
            <a:r>
              <a:rPr lang="en-US" dirty="0">
                <a:latin typeface="Times New Roman"/>
              </a:rPr>
              <a:t>5. Result of the testing can come on the same day.</a:t>
            </a:r>
          </a:p>
          <a:p>
            <a:pPr marL="0" indent="0">
              <a:spcBef>
                <a:spcPts val="0"/>
              </a:spcBef>
              <a:spcAft>
                <a:spcPts val="2100"/>
              </a:spcAft>
              <a:buNone/>
              <a:defRPr/>
            </a:pPr>
            <a:r>
              <a:rPr lang="en-US" sz="2000" b="1" dirty="0">
                <a:latin typeface="Times New Roman"/>
              </a:rPr>
              <a:t>Disadvantages</a:t>
            </a:r>
          </a:p>
          <a:p>
            <a:pPr marL="159512">
              <a:spcBef>
                <a:spcPts val="0"/>
              </a:spcBef>
              <a:defRPr/>
            </a:pPr>
            <a:r>
              <a:rPr lang="en-US" dirty="0">
                <a:solidFill>
                  <a:srgbClr val="292727"/>
                </a:solidFill>
                <a:latin typeface="Times New Roman"/>
              </a:rPr>
              <a:t>l. If thresholding is low correct detection is impossible.</a:t>
            </a:r>
          </a:p>
          <a:p>
            <a:pPr algn="just">
              <a:spcBef>
                <a:spcPts val="0"/>
              </a:spcBef>
              <a:spcAft>
                <a:spcPts val="2100"/>
              </a:spcAft>
              <a:defRPr/>
            </a:pPr>
            <a:endParaRPr lang="en-US" dirty="0">
              <a:latin typeface="Times New Roman"/>
            </a:endParaRPr>
          </a:p>
          <a:p>
            <a:endParaRPr lang="en-IN" dirty="0"/>
          </a:p>
        </p:txBody>
      </p:sp>
    </p:spTree>
    <p:extLst>
      <p:ext uri="{BB962C8B-B14F-4D97-AF65-F5344CB8AC3E}">
        <p14:creationId xmlns:p14="http://schemas.microsoft.com/office/powerpoint/2010/main" val="512387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BE4A2-2C3C-4138-9483-7AC78DA13F7F}"/>
              </a:ext>
            </a:extLst>
          </p:cNvPr>
          <p:cNvSpPr>
            <a:spLocks noGrp="1"/>
          </p:cNvSpPr>
          <p:nvPr>
            <p:ph type="title"/>
          </p:nvPr>
        </p:nvSpPr>
        <p:spPr/>
        <p:txBody>
          <a:bodyPr/>
          <a:lstStyle/>
          <a:p>
            <a:r>
              <a:rPr lang="en-US" altLang="en-US" sz="2000" b="1" dirty="0">
                <a:solidFill>
                  <a:srgbClr val="71309E"/>
                </a:solidFill>
                <a:latin typeface="Times New Roman" panose="02020603050405020304" pitchFamily="18" charset="0"/>
              </a:rPr>
              <a:t>7.REFERENCES.</a:t>
            </a:r>
            <a:br>
              <a:rPr lang="en-US" altLang="en-US" b="1" dirty="0">
                <a:solidFill>
                  <a:srgbClr val="71309E"/>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46B00A5-E210-4982-92E6-4BCDE632F99C}"/>
              </a:ext>
            </a:extLst>
          </p:cNvPr>
          <p:cNvSpPr>
            <a:spLocks noGrp="1"/>
          </p:cNvSpPr>
          <p:nvPr>
            <p:ph idx="1"/>
          </p:nvPr>
        </p:nvSpPr>
        <p:spPr>
          <a:xfrm>
            <a:off x="677334" y="1161348"/>
            <a:ext cx="8596668" cy="3880773"/>
          </a:xfrm>
        </p:spPr>
        <p:txBody>
          <a:bodyPr>
            <a:normAutofit/>
          </a:bodyPr>
          <a:lstStyle/>
          <a:p>
            <a:r>
              <a:rPr lang="en-IN" dirty="0">
                <a:latin typeface="Times New Roman" panose="02020603050405020304" pitchFamily="18" charset="0"/>
                <a:cs typeface="Times New Roman" panose="02020603050405020304" pitchFamily="18" charset="0"/>
              </a:rPr>
              <a:t>“Automated Brain </a:t>
            </a:r>
            <a:r>
              <a:rPr lang="en-IN" dirty="0" err="1">
                <a:latin typeface="Times New Roman" panose="02020603050405020304" pitchFamily="18" charset="0"/>
                <a:cs typeface="Times New Roman" panose="02020603050405020304" pitchFamily="18" charset="0"/>
              </a:rPr>
              <a:t>Tumor</a:t>
            </a:r>
            <a:r>
              <a:rPr lang="en-IN" dirty="0">
                <a:latin typeface="Times New Roman" panose="02020603050405020304" pitchFamily="18" charset="0"/>
                <a:cs typeface="Times New Roman" panose="02020603050405020304" pitchFamily="18" charset="0"/>
              </a:rPr>
              <a:t> Segmentation Using Hybrid Image Processing Techniques” by B.S. Swathi and S.K. Somasundaram</a:t>
            </a:r>
          </a:p>
          <a:p>
            <a:r>
              <a:rPr lang="en-US" dirty="0">
                <a:latin typeface="Times New Roman" panose="02020603050405020304" pitchFamily="18" charset="0"/>
                <a:cs typeface="Times New Roman" panose="02020603050405020304" pitchFamily="18" charset="0"/>
              </a:rPr>
              <a:t>"Automated Brain Tumor Segmentation Using Convolutional Neural Networks" by H. Chen, Q. Dou, L. Yu</a:t>
            </a:r>
          </a:p>
          <a:p>
            <a:r>
              <a:rPr lang="en-US" dirty="0">
                <a:latin typeface="Times New Roman" panose="02020603050405020304" pitchFamily="18" charset="0"/>
                <a:cs typeface="Times New Roman" panose="02020603050405020304" pitchFamily="18" charset="0"/>
              </a:rPr>
              <a:t>"Segmentation of Brain Tumors in MRI Images Using Fuzzy C-Means Clustering and Differential Evolution" by M.A. Siddiqui and M.A. Imran</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Comparative Study of Image Segmentation Algorithms for Brain Tumor Detection" by H.A. </a:t>
            </a:r>
            <a:r>
              <a:rPr lang="en-US" dirty="0" err="1">
                <a:latin typeface="Times New Roman" panose="02020603050405020304" pitchFamily="18" charset="0"/>
                <a:cs typeface="Times New Roman" panose="02020603050405020304" pitchFamily="18" charset="0"/>
              </a:rPr>
              <a:t>Jalab</a:t>
            </a:r>
            <a:r>
              <a:rPr lang="en-US" dirty="0">
                <a:latin typeface="Times New Roman" panose="02020603050405020304" pitchFamily="18" charset="0"/>
                <a:cs typeface="Times New Roman" panose="02020603050405020304" pitchFamily="18" charset="0"/>
              </a:rPr>
              <a:t>, A.H. Hassan, and K.S. Kareem</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"Brain Tumor Segmentation Using Adaptive Thresholding and Morphological Operations" by S. Sujatha and S. </a:t>
            </a:r>
            <a:r>
              <a:rPr lang="en-US" dirty="0" err="1">
                <a:latin typeface="Times New Roman" panose="02020603050405020304" pitchFamily="18" charset="0"/>
                <a:cs typeface="Times New Roman" panose="02020603050405020304" pitchFamily="18" charset="0"/>
              </a:rPr>
              <a:t>Karpagavalli</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23499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2031B-CE09-4514-B154-78F24497FA80}"/>
              </a:ext>
            </a:extLst>
          </p:cNvPr>
          <p:cNvSpPr>
            <a:spLocks noGrp="1"/>
          </p:cNvSpPr>
          <p:nvPr>
            <p:ph type="title"/>
          </p:nvPr>
        </p:nvSpPr>
        <p:spPr/>
        <p:txBody>
          <a:bodyPr/>
          <a:lstStyle/>
          <a:p>
            <a:r>
              <a:rPr lang="en-US" sz="2000" b="1" dirty="0">
                <a:solidFill>
                  <a:srgbClr val="71309E"/>
                </a:solidFill>
                <a:latin typeface="Times New Roman" panose="02020603050405020304" pitchFamily="18" charset="0"/>
                <a:cs typeface="Times New Roman" panose="02020603050405020304" pitchFamily="18" charset="0"/>
              </a:rPr>
              <a:t>8. CONCLUSION</a:t>
            </a:r>
            <a:br>
              <a:rPr lang="en-US" sz="800" dirty="0">
                <a:solidFill>
                  <a:srgbClr val="71309E"/>
                </a:solidFill>
                <a:latin typeface="Arial"/>
              </a:rPr>
            </a:br>
            <a:endParaRPr lang="en-IN" dirty="0"/>
          </a:p>
        </p:txBody>
      </p:sp>
      <p:sp>
        <p:nvSpPr>
          <p:cNvPr id="3" name="Content Placeholder 2">
            <a:extLst>
              <a:ext uri="{FF2B5EF4-FFF2-40B4-BE49-F238E27FC236}">
                <a16:creationId xmlns:a16="http://schemas.microsoft.com/office/drawing/2014/main" id="{8D90319A-DCC8-4489-B7AB-C9825A0D4783}"/>
              </a:ext>
            </a:extLst>
          </p:cNvPr>
          <p:cNvSpPr>
            <a:spLocks noGrp="1"/>
          </p:cNvSpPr>
          <p:nvPr>
            <p:ph idx="1"/>
          </p:nvPr>
        </p:nvSpPr>
        <p:spPr>
          <a:xfrm>
            <a:off x="677334" y="1340457"/>
            <a:ext cx="8596668" cy="3880773"/>
          </a:xfrm>
        </p:spPr>
        <p:txBody>
          <a:bodyPr/>
          <a:lstStyle/>
          <a:p>
            <a:endParaRPr lang="en-IN"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 conclusion, brain tumor segmentation using image processing techniques is a challenging task that requires careful consideration of several factors such as image quality, tumor characteristics, and the choice of appropriate segmentation algorithms. Thresholding is a widely used technique in brain tumor segmentation that involves setting a threshold value to distinguish between foreground (tumor) and background (brain tissue) regions. Other image processing techniques such as region growing, edge detection, and clustering can also be used for brain tumor segmentation, either alone or in combination with thresholding.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999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2A0843-1151-4E82-8754-DC3CE6480282}"/>
              </a:ext>
            </a:extLst>
          </p:cNvPr>
          <p:cNvSpPr>
            <a:spLocks noGrp="1"/>
          </p:cNvSpPr>
          <p:nvPr>
            <p:ph idx="1"/>
          </p:nvPr>
        </p:nvSpPr>
        <p:spPr/>
        <p:txBody>
          <a:bodyPr>
            <a:normAutofit/>
          </a:bodyPr>
          <a:lstStyle/>
          <a:p>
            <a:pPr marL="0" indent="0">
              <a:buNone/>
            </a:pPr>
            <a:r>
              <a:rPr lang="en-US" sz="4800" b="1" dirty="0">
                <a:solidFill>
                  <a:srgbClr val="71309E"/>
                </a:solidFill>
                <a:latin typeface="Times New Roman" panose="02020603050405020304" pitchFamily="18" charset="0"/>
              </a:rPr>
              <a:t>             </a:t>
            </a:r>
          </a:p>
          <a:p>
            <a:pPr marL="0" indent="0">
              <a:buNone/>
            </a:pPr>
            <a:r>
              <a:rPr lang="en-US" sz="4800" b="1" dirty="0">
                <a:solidFill>
                  <a:srgbClr val="71309E"/>
                </a:solidFill>
                <a:latin typeface="Times New Roman" panose="02020603050405020304" pitchFamily="18" charset="0"/>
              </a:rPr>
              <a:t>                 THANK YOU</a:t>
            </a:r>
            <a:endParaRPr lang="en-IN" sz="4800" dirty="0"/>
          </a:p>
        </p:txBody>
      </p:sp>
    </p:spTree>
    <p:extLst>
      <p:ext uri="{BB962C8B-B14F-4D97-AF65-F5344CB8AC3E}">
        <p14:creationId xmlns:p14="http://schemas.microsoft.com/office/powerpoint/2010/main" val="17623025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112</TotalTime>
  <Words>1434</Words>
  <Application>Microsoft Office PowerPoint</Application>
  <PresentationFormat>Widescreen</PresentationFormat>
  <Paragraphs>108</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Book Antiqua</vt:lpstr>
      <vt:lpstr>Calibri</vt:lpstr>
      <vt:lpstr>Times New Roman</vt:lpstr>
      <vt:lpstr>Trebuchet MS</vt:lpstr>
      <vt:lpstr>Wingdings</vt:lpstr>
      <vt:lpstr>Wingdings 3</vt:lpstr>
      <vt:lpstr>Facet</vt:lpstr>
      <vt:lpstr>PowerPoint Presentation</vt:lpstr>
      <vt:lpstr>TABLE OF CONTENT </vt:lpstr>
      <vt:lpstr>1.INTRODUCTION </vt:lpstr>
      <vt:lpstr>PowerPoint Presentation</vt:lpstr>
      <vt:lpstr>PowerPoint Presentation</vt:lpstr>
      <vt:lpstr>2.AIMS AND OBJECTIVES </vt:lpstr>
      <vt:lpstr>PowerPoint Presentation</vt:lpstr>
      <vt:lpstr>PowerPoint Presentation</vt:lpstr>
      <vt:lpstr>4. METHODOLOGY</vt:lpstr>
      <vt:lpstr>5.SOFTWARE REQUIREMENTS.   • MATLAB </vt:lpstr>
      <vt:lpstr>PowerPoint Presentation</vt:lpstr>
      <vt:lpstr>7.REFERENCES. </vt:lpstr>
      <vt:lpstr>8. 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rarunkumarr526@gmail.com</cp:lastModifiedBy>
  <cp:revision>10</cp:revision>
  <dcterms:created xsi:type="dcterms:W3CDTF">2023-03-29T16:18:29Z</dcterms:created>
  <dcterms:modified xsi:type="dcterms:W3CDTF">2023-05-12T02:42:06Z</dcterms:modified>
</cp:coreProperties>
</file>